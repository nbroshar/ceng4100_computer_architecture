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E8EC"/>
    <a:srgbClr val="FFEBEB"/>
    <a:srgbClr val="FFD1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6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07583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ED09F-D14A-7903-B023-2611489BE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753C8C-354E-F278-AE1E-A98522DC2C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AB7C84-3635-8641-F58C-EF2C884BC3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9D616C-9327-4F06-EE3F-3FB7A798BD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490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9E1B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kern="0" spc="300" dirty="0">
                <a:solidFill>
                  <a:srgbClr val="E7B8C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CENG 4100 · COMPUTER ARCHITECTURE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914400" y="2331720"/>
            <a:ext cx="1036289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Week 1</a:t>
            </a:r>
            <a:endParaRPr lang="en-US" sz="6000" dirty="0"/>
          </a:p>
        </p:txBody>
      </p:sp>
      <p:sp>
        <p:nvSpPr>
          <p:cNvPr id="4" name="Shape 2"/>
          <p:cNvSpPr/>
          <p:nvPr/>
        </p:nvSpPr>
        <p:spPr>
          <a:xfrm>
            <a:off x="5592928" y="3611880"/>
            <a:ext cx="1005840" cy="27432"/>
          </a:xfrm>
          <a:prstGeom prst="rect">
            <a:avLst/>
          </a:prstGeom>
          <a:solidFill>
            <a:srgbClr val="E7B8C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14400" y="379476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F3D9DF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Meet the Machine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45262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E7B8C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Phase 0 — Baseline · Milestone M0 begins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557784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400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DUNWOODY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989320"/>
            <a:ext cx="103628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kern="0" spc="300" dirty="0">
                <a:solidFill>
                  <a:srgbClr val="F3D9DF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COLLEGE OF TECHNOLOGY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This Week</a:t>
            </a: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Meet the Machine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You inherit a working RISC-V processor and spend the whole semester growing it. Today: meet the tools, meet the core, and put a design on real hardware.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892808"/>
            <a:ext cx="3503066" cy="3246120"/>
          </a:xfrm>
          <a:prstGeom prst="rect">
            <a:avLst/>
          </a:prstGeom>
          <a:solidFill>
            <a:srgbClr val="F8E8EC"/>
          </a:solidFill>
          <a:ln/>
          <a:effectLst>
            <a:outerShdw blurRad="63500" dist="25400" dir="5400000" algn="bl" rotWithShape="0">
              <a:srgbClr val="BFBFB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89280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" y="2112264"/>
            <a:ext cx="3100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Concept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68096" y="2788920"/>
            <a:ext cx="310073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What computer architecture is, the levels of abstraction from transistors to programs, and the RV32I base core you'll evolve for 16 weeks.</a:t>
            </a:r>
            <a:endParaRPr lang="en-US" sz="1450" dirty="0"/>
          </a:p>
          <a:p>
            <a:pPr marL="0" indent="0" algn="l">
              <a:lnSpc>
                <a:spcPct val="102000"/>
              </a:lnSpc>
              <a:buNone/>
            </a:pPr>
            <a:endParaRPr lang="en-US" sz="1450" dirty="0"/>
          </a:p>
          <a:p>
            <a:pPr marL="0" indent="0" algn="l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Read: SCO Ch 1; COD 1.1–1.5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344314" y="1892808"/>
            <a:ext cx="3503066" cy="3246120"/>
          </a:xfrm>
          <a:prstGeom prst="rect">
            <a:avLst/>
          </a:prstGeom>
          <a:solidFill>
            <a:srgbClr val="F8E8EC"/>
          </a:solidFill>
          <a:ln/>
          <a:effectLst>
            <a:outerShdw blurRad="63500" dist="25400" dir="5400000" algn="bl" rotWithShape="0">
              <a:srgbClr val="BFBFB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44314" y="189280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45482" y="2112264"/>
            <a:ext cx="3100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Lab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45482" y="2788920"/>
            <a:ext cx="310073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Install Vivado, open the base-core project, and program the Basys 3 (Artix-7). Read the RTL top module top to bottom and annotate it.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8121701" y="1892808"/>
            <a:ext cx="3503066" cy="3246120"/>
          </a:xfrm>
          <a:prstGeom prst="rect">
            <a:avLst/>
          </a:prstGeom>
          <a:solidFill>
            <a:srgbClr val="F8E8EC"/>
          </a:solidFill>
          <a:ln/>
          <a:effectLst>
            <a:outerShdw blurRad="63500" dist="25400" dir="5400000" algn="bl" rotWithShape="0">
              <a:srgbClr val="BFBFBF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121701" y="189280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22869" y="2112264"/>
            <a:ext cx="3100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Deliverable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322869" y="2788920"/>
            <a:ext cx="310073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 running demo bitstream on your board + a one-page RTL map in your design notebook. 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One core, all semester: everything you build from here bolts onto the design you meet today.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Levels of Abstraction</a:t>
            </a: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Stack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 modern computer is a stack of layers. Architecture is the contract between the hardware and the software — the layer this course lives in.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938528"/>
            <a:ext cx="1992112" cy="320040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938528"/>
            <a:ext cx="1992112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79520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79520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04088" y="2926080"/>
            <a:ext cx="171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456432"/>
            <a:ext cx="16629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Your C or assembly program — what you want the machine to do.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2833360" y="1938528"/>
            <a:ext cx="1992112" cy="320040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833360" y="1938528"/>
            <a:ext cx="1992112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545952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45952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970520" y="2926080"/>
            <a:ext cx="171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ISA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97952" y="3456432"/>
            <a:ext cx="16629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The instruction set: the visible contract. We use RISC-V (RV32I).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099792" y="1938528"/>
            <a:ext cx="1992112" cy="320040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099792" y="1938528"/>
            <a:ext cx="1992112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812384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12384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236952" y="2926080"/>
            <a:ext cx="171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MICROARCH.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64384" y="3456432"/>
            <a:ext cx="16629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How the ISA is actually built: datapath, control, pipeline.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366224" y="1938528"/>
            <a:ext cx="1992112" cy="320040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7366224" y="1938528"/>
            <a:ext cx="1992112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078815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078815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503384" y="2926080"/>
            <a:ext cx="171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LOGIC / RTL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530816" y="3456432"/>
            <a:ext cx="16629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Gates, registers, and FSMs written in Verilog.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9632655" y="1938528"/>
            <a:ext cx="1992112" cy="320040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9632655" y="1938528"/>
            <a:ext cx="1992112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10345247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0345247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5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9769815" y="2926080"/>
            <a:ext cx="1717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FPGA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797247" y="3456432"/>
            <a:ext cx="16629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LUTs and flip-flops on the Artix-7 that become your circuit.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Architecture (the ISA) is the promise; microarchitecture is how you keep it. This course crosses both.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Toolchain</a:t>
            </a: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Vivado + Basys 3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Two things you'll use every week: Vivado turns your Verilog into a bitstream, and the Basys 3 runs it as real silicon.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66928" y="1892808"/>
            <a:ext cx="6126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TODAY'S SETUP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2350008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66928" y="23500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25296" y="2313432"/>
            <a:ext cx="5468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Install Vivado.</a:t>
            </a:r>
            <a:r>
              <a:rPr lang="en-US" sz="15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Free Standard edition; add the Artix-7 (7-series) device family.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66928" y="315468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66928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25296" y="3118104"/>
            <a:ext cx="5468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5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Open the base core.</a:t>
            </a:r>
            <a:r>
              <a:rPr lang="en-US" sz="15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Load the provided project; set the Basys 3 </a:t>
            </a:r>
            <a:r>
              <a:rPr lang="en-US" sz="1600" dirty="0"/>
              <a:t>xc7a35tcpg236-1</a:t>
            </a:r>
            <a:r>
              <a:rPr lang="en-US" sz="15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as the target part.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66928" y="3959352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66928" y="39593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25296" y="3922776"/>
            <a:ext cx="5468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Synthesize &amp; implement.</a:t>
            </a:r>
            <a:r>
              <a:rPr lang="en-US" sz="15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Run synthesis → implementation → generate bitstream.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66928" y="4764024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" y="4764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225296" y="4727448"/>
            <a:ext cx="54681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Program the board.</a:t>
            </a:r>
            <a:r>
              <a:rPr lang="en-US" sz="15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Open Hardware Manager, connect over USB-JTAG, program the device.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903720" y="1892808"/>
            <a:ext cx="4718304" cy="306324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03720" y="1892808"/>
            <a:ext cx="4718304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04888" y="2093976"/>
            <a:ext cx="4315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BASYS 3 · ARTIX-7 </a:t>
            </a:r>
            <a:r>
              <a:rPr lang="en-US" dirty="0"/>
              <a:t>xc7a35tcpg236-1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123176" y="2642616"/>
            <a:ext cx="42976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33,280 logic cells · 5,200 slices (4 LUTs + 8 FFs each)</a:t>
            </a:r>
            <a:endParaRPr lang="en-US" sz="145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90 DSP slices · 1,800 Kb block RAM</a:t>
            </a:r>
            <a:endParaRPr lang="en-US" sz="145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16 switches · 16 LEDs · 5 buttons · 4-digit 7-seg</a:t>
            </a:r>
            <a:endParaRPr lang="en-US" sz="1450" dirty="0"/>
          </a:p>
          <a:p>
            <a:pPr marL="177800" indent="-177800" algn="l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USB-JTAG programming · USB-UART bridge · 4 Pmods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Write → Synthesize → Implement → Program. That loop never changes, all semester.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606040"/>
            <a:ext cx="1105783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Read the RTL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566928" y="3493008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3584448"/>
            <a:ext cx="1105783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The base core, top to bottom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Base Core</a:t>
            </a: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A Single-Cycle RV32I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The core you inherit executes one instruction per clock. Five blocks do all the work — learn their names now; you'll rebuild every one.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892808"/>
            <a:ext cx="2572436" cy="233172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892808"/>
            <a:ext cx="2572436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" y="2093976"/>
            <a:ext cx="21701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FETCH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2734056"/>
            <a:ext cx="21518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PC register</a:t>
            </a:r>
            <a:endParaRPr lang="en-US" sz="1400" dirty="0"/>
          </a:p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Instruction memory</a:t>
            </a:r>
            <a:endParaRPr lang="en-US" sz="1400" dirty="0"/>
          </a:p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PC + 4 adder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95396" y="1892808"/>
            <a:ext cx="2572436" cy="233172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95396" y="1892808"/>
            <a:ext cx="2572436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596564" y="2093976"/>
            <a:ext cx="21701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DECODE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614852" y="2734056"/>
            <a:ext cx="21518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Register file (32×32)</a:t>
            </a:r>
            <a:endParaRPr lang="en-US" sz="1400" dirty="0"/>
          </a:p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Immediate generator</a:t>
            </a:r>
            <a:endParaRPr lang="en-US" sz="1400" dirty="0"/>
          </a:p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Control unit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23864" y="1892808"/>
            <a:ext cx="2572436" cy="233172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223864" y="1892808"/>
            <a:ext cx="2572436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25032" y="2093976"/>
            <a:ext cx="21701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EXECUTE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43320" y="2734056"/>
            <a:ext cx="21518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ALU</a:t>
            </a:r>
            <a:endParaRPr lang="en-US" sz="1400" dirty="0"/>
          </a:p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ALU control</a:t>
            </a:r>
            <a:endParaRPr lang="en-US" sz="1400" dirty="0"/>
          </a:p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Branch compare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052331" y="1892808"/>
            <a:ext cx="2572436" cy="233172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052331" y="1892808"/>
            <a:ext cx="2572436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253499" y="2093976"/>
            <a:ext cx="21701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MEM / WB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9271787" y="2734056"/>
            <a:ext cx="215181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Data memory</a:t>
            </a:r>
            <a:endParaRPr lang="en-US" sz="1400" dirty="0"/>
          </a:p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Load/store logic</a:t>
            </a:r>
            <a:endParaRPr lang="en-US" sz="1400" dirty="0"/>
          </a:p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Write-back mux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66928" y="4453128"/>
            <a:ext cx="11057839" cy="203454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4"/>
            </a:solidFill>
            <a:prstDash val="solid"/>
          </a:ln>
          <a:effectLst>
            <a:outerShdw blurRad="63500" dist="25400" dir="5400000" algn="bl" rotWithShape="0">
              <a:srgbClr val="BFBFBF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66928" y="4453128"/>
            <a:ext cx="11057839" cy="310896"/>
          </a:xfrm>
          <a:prstGeom prst="rect">
            <a:avLst/>
          </a:prstGeom>
          <a:solidFill>
            <a:srgbClr val="EDED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94944" y="4567428"/>
            <a:ext cx="82296" cy="82296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41248" y="4453128"/>
            <a:ext cx="1069207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rv_top.v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" y="4855464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42416" y="4855464"/>
            <a:ext cx="10472623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</a:t>
            </a: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rv_top(</a:t>
            </a:r>
            <a:r>
              <a:rPr lang="en-US" sz="11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clk, </a:t>
            </a:r>
            <a:r>
              <a:rPr lang="en-US" sz="11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</a:t>
            </a: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rst,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" y="5070348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42416" y="5070348"/>
            <a:ext cx="10472623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</a:t>
            </a:r>
            <a:r>
              <a:rPr lang="en-US" sz="11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</a:t>
            </a: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[15:0] led);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1792" y="5285232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042416" y="5285232"/>
            <a:ext cx="10472623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wire</a:t>
            </a: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[31:0] pc, instr, alu_y, rdata;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1792" y="5500116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42416" y="5500116"/>
            <a:ext cx="10472623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fetch  u_if (.clk(clk), .rst(rst), .pc(pc), .instr(instr));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1792" y="5715000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42416" y="5715000"/>
            <a:ext cx="10472623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decode u_id (.instr(instr), .imm(imm), .ctrl(ctrl));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1792" y="5929884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42416" y="5929884"/>
            <a:ext cx="10472623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1A1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execute u_ex(.a(rs1), .b(rs2), .imm(imm), .y(alu_y));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" y="6144768"/>
            <a:ext cx="310896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A0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042416" y="6144768"/>
            <a:ext cx="10472623" cy="2148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A56D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endmodule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How to Read RTL</a:t>
            </a: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Follow the Signals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Don't read Verilog top to bottom like a novel. Follow one signal — the program counter — as it flows through the design.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892808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66928" y="1892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25296" y="1856232"/>
            <a:ext cx="5650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Find the clock &amp; reset.</a:t>
            </a:r>
            <a:r>
              <a:rPr lang="en-US" sz="15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Every sequential block keys off posedge clk and rst.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66928" y="2642616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66928" y="2642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25296" y="2606040"/>
            <a:ext cx="5650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Find the PC register.</a:t>
            </a:r>
            <a:r>
              <a:rPr lang="en-US" sz="15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It's the heartbeat — where does it get its next value?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66928" y="3392424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33924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225296" y="3355848"/>
            <a:ext cx="5650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Trace instruction fetch.</a:t>
            </a:r>
            <a:r>
              <a:rPr lang="en-US" sz="15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PC indexes instruction memory → the 32-bit instr word.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66928" y="4142232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66928" y="41422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225296" y="4105656"/>
            <a:ext cx="5650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Watch it split in decode.</a:t>
            </a:r>
            <a:r>
              <a:rPr lang="en-US" sz="15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Opcode, funct3/7, register fields, immediate.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66928" y="4892040"/>
            <a:ext cx="457200" cy="457200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66928" y="48920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5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25296" y="4855464"/>
            <a:ext cx="565099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Follow to write-back.</a:t>
            </a:r>
            <a:r>
              <a:rPr lang="en-US" sz="15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  Where does the result land back in the register file?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086600" y="1892808"/>
            <a:ext cx="4535424" cy="30175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086600" y="1892808"/>
            <a:ext cx="4535424" cy="256032"/>
          </a:xfrm>
          <a:prstGeom prst="rect">
            <a:avLst/>
          </a:prstGeom>
          <a:solidFill>
            <a:srgbClr val="2C2C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214616" y="1892808"/>
            <a:ext cx="42611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B8B8B8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VIVADO TCL CONSOLE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232904" y="2221992"/>
            <a:ext cx="4242816" cy="2615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open_project rv_core.xpr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launch_runs synth_1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INFO: synthesis complete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launch_runs impl_1 -to_step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write_bitstream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INFO: bitstream written: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rv_top.bit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8FD1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program device</a:t>
            </a:r>
            <a:endParaRPr lang="en-US" sz="12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INFO: Programmed XC7A35T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You can't change what you can't trace. Name every wire before you touch one.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606040"/>
            <a:ext cx="11057839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Working Towards Milestone M0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566928" y="3493008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3584448"/>
            <a:ext cx="11057839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Meet the machine — get it running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The Lab</a:t>
            </a: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Four Sections, One Rule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Every weekly lab has the same four sections. Work them in order — you must be able to EXPLAIN every line you submit.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938528"/>
            <a:ext cx="2558720" cy="320040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93852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62824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562824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04088" y="292608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ANCHOR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456432"/>
            <a:ext cx="2229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Program the provided demo to the board. Confirm your toolchain works end to end.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399968" y="1938528"/>
            <a:ext cx="2558720" cy="320040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399968" y="193852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395864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95864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2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537128" y="292608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GUIDED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564560" y="3456432"/>
            <a:ext cx="2229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Annotate rv_top.v: label each of the five blocks and the signals between them.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33008" y="1938528"/>
            <a:ext cx="2558720" cy="320040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233008" y="193852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228904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228904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70168" y="292608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EXTENSION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97600" y="3456432"/>
            <a:ext cx="2229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Change which switches drive the LEDs; re-synthesize and re-program.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9066047" y="1938528"/>
            <a:ext cx="2558720" cy="320040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066047" y="1938528"/>
            <a:ext cx="2558720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0061943" y="2231136"/>
            <a:ext cx="566928" cy="566928"/>
          </a:xfrm>
          <a:prstGeom prst="ellipse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061943" y="223113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9203207" y="2926080"/>
            <a:ext cx="228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STRETCH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30639" y="3456432"/>
            <a:ext cx="222953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Record Fmax and LUT/FF counts from the reports. 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66928" y="580644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E1B32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Together in class: Anchor + Guided. On your own: Extension + Stretch.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Reading Response #1</a:t>
            </a: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SCO Ch 1 · COD 1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Reading responses are 15% of your grade. Short, specific answers in your own words — post to Canvas before next class.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1938528"/>
            <a:ext cx="3503066" cy="301752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66928" y="193852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68096" y="2139696"/>
            <a:ext cx="3100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DEFINE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2779776"/>
            <a:ext cx="308244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What is the difference between computer ARCHITECTURE and ORGANIZATION?</a:t>
            </a:r>
            <a:endParaRPr lang="en-US" sz="1400" dirty="0"/>
          </a:p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Name the six levels in Tanenbaum's layered machine.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44314" y="1938528"/>
            <a:ext cx="3503066" cy="301752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344314" y="193852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45482" y="2139696"/>
            <a:ext cx="3100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EXPLAIN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563770" y="2779776"/>
            <a:ext cx="308244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Why is the ISA called a 'contract'? Who are the two parties?</a:t>
            </a:r>
            <a:endParaRPr lang="en-US" sz="1400" dirty="0"/>
          </a:p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What does 'RISC' mean, and what does the 'V' add?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21701" y="1938528"/>
            <a:ext cx="3503066" cy="3017520"/>
          </a:xfrm>
          <a:prstGeom prst="rect">
            <a:avLst/>
          </a:prstGeom>
          <a:solidFill>
            <a:srgbClr val="F8E8E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8121701" y="1938528"/>
            <a:ext cx="3503066" cy="82296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322869" y="2139696"/>
            <a:ext cx="310073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APPLY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341157" y="2779776"/>
            <a:ext cx="308244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List the five blocks of the base core and one job each.</a:t>
            </a:r>
            <a:endParaRPr lang="en-US" sz="1400" dirty="0"/>
          </a:p>
          <a:p>
            <a:pPr marL="165100" indent="-165100" algn="l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Which Basys 3 resources limit how big your core can grow?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Week 1 Reflection</a:t>
            </a:r>
            <a:r>
              <a:rPr lang="en-US" sz="3300" b="1" dirty="0">
                <a:solidFill>
                  <a:srgbClr val="9E1B32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   |   </a:t>
            </a:r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Design Notebook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1188720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595959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Close every week here. Log it in your design notebook — the notebook + check-ins are 8% of your grade.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C33584-8F34-6D9B-355E-FC27DDBD5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4E96852-A711-BC14-1A4F-73A67D51E53E}"/>
              </a:ext>
            </a:extLst>
          </p:cNvPr>
          <p:cNvSpPr/>
          <p:nvPr/>
        </p:nvSpPr>
        <p:spPr>
          <a:xfrm>
            <a:off x="566928" y="310896"/>
            <a:ext cx="11057839" cy="658368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r>
              <a:rPr lang="en-US" sz="3300" b="1" dirty="0">
                <a:solidFill>
                  <a:srgbClr val="1A1A1A"/>
                </a:solidFill>
                <a:latin typeface="Tw Cen MT Condensed Extra Bold" pitchFamily="34" charset="0"/>
              </a:rPr>
              <a:t>By December, this goes on your </a:t>
            </a:r>
            <a:r>
              <a:rPr lang="en-US" sz="3600" dirty="0">
                <a:solidFill>
                  <a:srgbClr val="1A1F26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résumé</a:t>
            </a:r>
            <a:endParaRPr lang="en-US" sz="33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2090A53-1423-097A-F4DD-75FE6C2E32A8}"/>
              </a:ext>
            </a:extLst>
          </p:cNvPr>
          <p:cNvSpPr/>
          <p:nvPr/>
        </p:nvSpPr>
        <p:spPr>
          <a:xfrm>
            <a:off x="566928" y="1060704"/>
            <a:ext cx="11057839" cy="25603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0EDF961-8A63-A5D7-373F-CA29CB464598}"/>
              </a:ext>
            </a:extLst>
          </p:cNvPr>
          <p:cNvSpPr/>
          <p:nvPr/>
        </p:nvSpPr>
        <p:spPr>
          <a:xfrm>
            <a:off x="566928" y="1109615"/>
            <a:ext cx="11057839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600" dirty="0">
                <a:latin typeface="Tw Cen MT" panose="020B0602020104020603" pitchFamily="34" charset="0"/>
              </a:rPr>
              <a:t>Built and deployed a working RISC-V (RV32I) processor in Verilog on a Xilinx Artix-7 FPGA including </a:t>
            </a:r>
            <a:r>
              <a:rPr lang="en-US" sz="1600" dirty="0" err="1">
                <a:latin typeface="Tw Cen MT" panose="020B0602020104020603" pitchFamily="34" charset="0"/>
              </a:rPr>
              <a:t>datapath</a:t>
            </a:r>
            <a:r>
              <a:rPr lang="en-US" sz="1600" dirty="0">
                <a:latin typeface="Tw Cen MT" panose="020B0602020104020603" pitchFamily="34" charset="0"/>
              </a:rPr>
              <a:t>, control, pipelining, and cache using </a:t>
            </a:r>
            <a:r>
              <a:rPr lang="en-US" sz="1600" dirty="0" err="1">
                <a:latin typeface="Tw Cen MT" panose="020B0602020104020603" pitchFamily="34" charset="0"/>
              </a:rPr>
              <a:t>Vivado</a:t>
            </a:r>
            <a:r>
              <a:rPr lang="en-US" sz="1600" dirty="0">
                <a:latin typeface="Tw Cen MT" panose="020B0602020104020603" pitchFamily="34" charset="0"/>
              </a:rPr>
              <a:t>, IP Integrator, and RTL simulation.</a:t>
            </a:r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03473B57-5CFB-17E1-976B-250F4C17FC89}"/>
              </a:ext>
            </a:extLst>
          </p:cNvPr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solidFill>
            <a:srgbClr val="9E1B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DCE57CA-3602-4AF5-8ECF-3654312756F1}"/>
              </a:ext>
            </a:extLst>
          </p:cNvPr>
          <p:cNvSpPr/>
          <p:nvPr/>
        </p:nvSpPr>
        <p:spPr>
          <a:xfrm>
            <a:off x="0" y="638251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w Cen MT Condensed Extra Bold" pitchFamily="34" charset="0"/>
                <a:ea typeface="Tw Cen MT Condensed Extra Bold" pitchFamily="34" charset="-122"/>
                <a:cs typeface="Tw Cen MT Condensed Extra Bold" pitchFamily="34" charset="-120"/>
              </a:rPr>
              <a:t>D</a:t>
            </a:r>
            <a:endParaRPr lang="en-US" sz="22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B1DC159-EE5D-FE75-02EB-952BD487E02E}"/>
              </a:ext>
            </a:extLst>
          </p:cNvPr>
          <p:cNvSpPr/>
          <p:nvPr/>
        </p:nvSpPr>
        <p:spPr>
          <a:xfrm>
            <a:off x="11368735" y="64008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AA0A6"/>
                </a:solidFill>
                <a:latin typeface="Tw Cen MT" pitchFamily="34" charset="0"/>
                <a:ea typeface="Tw Cen MT" pitchFamily="34" charset="-122"/>
                <a:cs typeface="Tw Cen MT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BC32CD-74E7-6F1A-C189-E9B511A9173C}"/>
              </a:ext>
            </a:extLst>
          </p:cNvPr>
          <p:cNvSpPr txBox="1"/>
          <p:nvPr/>
        </p:nvSpPr>
        <p:spPr>
          <a:xfrm>
            <a:off x="566928" y="1891005"/>
            <a:ext cx="5268791" cy="4431983"/>
          </a:xfrm>
          <a:prstGeom prst="rect">
            <a:avLst/>
          </a:prstGeom>
          <a:solidFill>
            <a:srgbClr val="F8E8EC"/>
          </a:solidFill>
        </p:spPr>
        <p:txBody>
          <a:bodyPr wrap="square" rtlCol="0">
            <a:spAutoFit/>
          </a:bodyPr>
          <a:lstStyle/>
          <a:p>
            <a:pPr rtl="0">
              <a:buNone/>
            </a:pPr>
            <a:r>
              <a:rPr lang="en-US" sz="1600" b="1" dirty="0">
                <a:latin typeface="Tw Cen MT" panose="020B0602020104020603" pitchFamily="34" charset="0"/>
              </a:rPr>
              <a:t>RISC-V Processor Design &amp; FPGA Implementation</a:t>
            </a:r>
            <a:endParaRPr lang="en-US" sz="1600" dirty="0">
              <a:latin typeface="Tw Cen MT" panose="020B0602020104020603" pitchFamily="34" charset="0"/>
            </a:endParaRP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400" dirty="0">
                <a:latin typeface="Tw Cen MT" panose="020B0602020104020603" pitchFamily="34" charset="0"/>
              </a:rPr>
              <a:t>Designed and built a working single-cycle RISC-V (RV32I) processor from the ground up in Verilog, progressing from combinational logic to a complete stored-program computer, and deployed it to a Xilinx Artix-7 FPGA (</a:t>
            </a:r>
            <a:r>
              <a:rPr lang="en-US" sz="1400" dirty="0" err="1">
                <a:latin typeface="Tw Cen MT" panose="020B0602020104020603" pitchFamily="34" charset="0"/>
              </a:rPr>
              <a:t>Digilent</a:t>
            </a:r>
            <a:r>
              <a:rPr lang="en-US" sz="1400" dirty="0">
                <a:latin typeface="Tw Cen MT" panose="020B0602020104020603" pitchFamily="34" charset="0"/>
              </a:rPr>
              <a:t> </a:t>
            </a:r>
            <a:r>
              <a:rPr lang="en-US" sz="1400" dirty="0" err="1">
                <a:latin typeface="Tw Cen MT" panose="020B0602020104020603" pitchFamily="34" charset="0"/>
              </a:rPr>
              <a:t>Basys</a:t>
            </a:r>
            <a:r>
              <a:rPr lang="en-US" sz="1400" dirty="0">
                <a:latin typeface="Tw Cen MT" panose="020B0602020104020603" pitchFamily="34" charset="0"/>
              </a:rPr>
              <a:t> 3).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400" dirty="0">
                <a:latin typeface="Tw Cen MT" panose="020B0602020104020603" pitchFamily="34" charset="0"/>
              </a:rPr>
              <a:t>Constructed the full </a:t>
            </a:r>
            <a:r>
              <a:rPr lang="en-US" sz="1400" dirty="0" err="1">
                <a:latin typeface="Tw Cen MT" panose="020B0602020104020603" pitchFamily="34" charset="0"/>
              </a:rPr>
              <a:t>datapath</a:t>
            </a:r>
            <a:r>
              <a:rPr lang="en-US" sz="1400" dirty="0">
                <a:latin typeface="Tw Cen MT" panose="020B0602020104020603" pitchFamily="34" charset="0"/>
              </a:rPr>
              <a:t> block-by-block in </a:t>
            </a:r>
            <a:r>
              <a:rPr lang="en-US" sz="1400" dirty="0" err="1">
                <a:latin typeface="Tw Cen MT" panose="020B0602020104020603" pitchFamily="34" charset="0"/>
              </a:rPr>
              <a:t>Vivado</a:t>
            </a:r>
            <a:r>
              <a:rPr lang="en-US" sz="1400" dirty="0">
                <a:latin typeface="Tw Cen MT" panose="020B0602020104020603" pitchFamily="34" charset="0"/>
              </a:rPr>
              <a:t> IP Integrator — ALU, register file, program counter, instruction decoder, and write-back logic — validating each stage in simulation and on hardware.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400" dirty="0">
                <a:latin typeface="Tw Cen MT" panose="020B0602020104020603" pitchFamily="34" charset="0"/>
              </a:rPr>
              <a:t>Extended the processor incrementally: added new ALU operations and a custom instruction (decode → ALU-control → </a:t>
            </a:r>
            <a:r>
              <a:rPr lang="en-US" sz="1400" dirty="0" err="1">
                <a:latin typeface="Tw Cen MT" panose="020B0602020104020603" pitchFamily="34" charset="0"/>
              </a:rPr>
              <a:t>datapath</a:t>
            </a:r>
            <a:r>
              <a:rPr lang="en-US" sz="1400" dirty="0">
                <a:latin typeface="Tw Cen MT" panose="020B0602020104020603" pitchFamily="34" charset="0"/>
              </a:rPr>
              <a:t>), an RV32M multiply/divide unit, a 5-stage pipeline with hazard detection and forwarding, and a data cache.*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400" dirty="0">
                <a:latin typeface="Tw Cen MT" panose="020B0602020104020603" pitchFamily="34" charset="0"/>
              </a:rPr>
              <a:t>Verified designs with Verilog testbenches (Icarus Verilog/</a:t>
            </a:r>
            <a:r>
              <a:rPr lang="en-US" sz="1400" dirty="0" err="1">
                <a:latin typeface="Tw Cen MT" panose="020B0602020104020603" pitchFamily="34" charset="0"/>
              </a:rPr>
              <a:t>Vivado</a:t>
            </a:r>
            <a:r>
              <a:rPr lang="en-US" sz="1400" dirty="0">
                <a:latin typeface="Tw Cen MT" panose="020B0602020104020603" pitchFamily="34" charset="0"/>
              </a:rPr>
              <a:t> </a:t>
            </a:r>
            <a:r>
              <a:rPr lang="en-US" sz="1400" dirty="0" err="1">
                <a:latin typeface="Tw Cen MT" panose="020B0602020104020603" pitchFamily="34" charset="0"/>
              </a:rPr>
              <a:t>XSim</a:t>
            </a:r>
            <a:r>
              <a:rPr lang="en-US" sz="1400" dirty="0">
                <a:latin typeface="Tw Cen MT" panose="020B0602020104020603" pitchFamily="34" charset="0"/>
              </a:rPr>
              <a:t>); closed timing at 100 MHz and analyzed LUT/FF/DSP utilization and Fmax against the iron law of performance (IC × CPI × T).</a:t>
            </a:r>
          </a:p>
          <a:p>
            <a:pPr marL="342900" lvl="0" indent="-342900" rtl="0">
              <a:buFont typeface="Arial" panose="020B0604020202020204" pitchFamily="34" charset="0"/>
              <a:buChar char="•"/>
            </a:pPr>
            <a:r>
              <a:rPr lang="en-US" sz="1400" dirty="0">
                <a:latin typeface="Tw Cen MT" panose="020B0602020104020603" pitchFamily="34" charset="0"/>
              </a:rPr>
              <a:t>Contrasted CISC vs. RISC by microcoding an instruction on a Mic-1/IJVM model, then implementing the same operation as hardwired RISC logic.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084DCF-6423-AB6E-4C25-DF5DFC66DDC6}"/>
              </a:ext>
            </a:extLst>
          </p:cNvPr>
          <p:cNvSpPr txBox="1"/>
          <p:nvPr/>
        </p:nvSpPr>
        <p:spPr>
          <a:xfrm>
            <a:off x="6082607" y="1898785"/>
            <a:ext cx="5383252" cy="2492990"/>
          </a:xfrm>
          <a:prstGeom prst="rect">
            <a:avLst/>
          </a:prstGeom>
          <a:solidFill>
            <a:srgbClr val="F8E8EC"/>
          </a:solidFill>
        </p:spPr>
        <p:txBody>
          <a:bodyPr wrap="square" rtlCol="0">
            <a:spAutoFit/>
          </a:bodyPr>
          <a:lstStyle/>
          <a:p>
            <a:pPr rtl="0">
              <a:buNone/>
            </a:pPr>
            <a:r>
              <a:rPr lang="en-US" sz="1600" b="1" dirty="0">
                <a:latin typeface="Tw Cen MT" panose="020B0602020104020603" pitchFamily="34" charset="0"/>
              </a:rPr>
              <a:t>Skills</a:t>
            </a:r>
            <a:endParaRPr lang="en-US" sz="1600" dirty="0">
              <a:latin typeface="Tw Cen MT" panose="020B0602020104020603" pitchFamily="34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1400" b="1" dirty="0">
                <a:latin typeface="Tw Cen MT" panose="020B0602020104020603" pitchFamily="34" charset="0"/>
              </a:rPr>
              <a:t>Hardware / FPGA:</a:t>
            </a:r>
            <a:r>
              <a:rPr lang="en-US" sz="1400" dirty="0">
                <a:latin typeface="Tw Cen MT" panose="020B0602020104020603" pitchFamily="34" charset="0"/>
              </a:rPr>
              <a:t> Verilog RTL, </a:t>
            </a:r>
            <a:r>
              <a:rPr lang="en-US" sz="1400" dirty="0" err="1">
                <a:latin typeface="Tw Cen MT" panose="020B0602020104020603" pitchFamily="34" charset="0"/>
              </a:rPr>
              <a:t>Vivado</a:t>
            </a:r>
            <a:r>
              <a:rPr lang="en-US" sz="1400" dirty="0">
                <a:latin typeface="Tw Cen MT" panose="020B0602020104020603" pitchFamily="34" charset="0"/>
              </a:rPr>
              <a:t> Design Suite, IP Integrator (block design), Xilinx Artix-7 / </a:t>
            </a:r>
            <a:r>
              <a:rPr lang="en-US" sz="1400" dirty="0" err="1">
                <a:latin typeface="Tw Cen MT" panose="020B0602020104020603" pitchFamily="34" charset="0"/>
              </a:rPr>
              <a:t>Basys</a:t>
            </a:r>
            <a:r>
              <a:rPr lang="en-US" sz="1400" dirty="0">
                <a:latin typeface="Tw Cen MT" panose="020B0602020104020603" pitchFamily="34" charset="0"/>
              </a:rPr>
              <a:t> 3, XDC timing &amp; pin constraints, RTL simulation (</a:t>
            </a:r>
            <a:r>
              <a:rPr lang="en-US" sz="1400" dirty="0" err="1">
                <a:latin typeface="Tw Cen MT" panose="020B0602020104020603" pitchFamily="34" charset="0"/>
              </a:rPr>
              <a:t>XSim</a:t>
            </a:r>
            <a:r>
              <a:rPr lang="en-US" sz="1400" dirty="0">
                <a:latin typeface="Tw Cen MT" panose="020B0602020104020603" pitchFamily="34" charset="0"/>
              </a:rPr>
              <a:t>/Icarus), timing closure, synthesis &amp; utilization analysis</a:t>
            </a:r>
            <a:br>
              <a:rPr lang="en-US" sz="1400" dirty="0">
                <a:latin typeface="Tw Cen MT" panose="020B0602020104020603" pitchFamily="34" charset="0"/>
              </a:rPr>
            </a:br>
            <a:r>
              <a:rPr lang="en-US" sz="1400" b="1" dirty="0">
                <a:latin typeface="Tw Cen MT" panose="020B0602020104020603" pitchFamily="34" charset="0"/>
              </a:rPr>
              <a:t>Computer Architecture:</a:t>
            </a:r>
            <a:r>
              <a:rPr lang="en-US" sz="1400" dirty="0">
                <a:latin typeface="Tw Cen MT" panose="020B0602020104020603" pitchFamily="34" charset="0"/>
              </a:rPr>
              <a:t> RISC-V (RV32I/RV32M), single-cycle &amp; pipelined </a:t>
            </a:r>
            <a:r>
              <a:rPr lang="en-US" sz="1400" dirty="0" err="1">
                <a:latin typeface="Tw Cen MT" panose="020B0602020104020603" pitchFamily="34" charset="0"/>
              </a:rPr>
              <a:t>datapath</a:t>
            </a:r>
            <a:r>
              <a:rPr lang="en-US" sz="1400" dirty="0">
                <a:latin typeface="Tw Cen MT" panose="020B0602020104020603" pitchFamily="34" charset="0"/>
              </a:rPr>
              <a:t> design, hazard/forwarding, instruction decode &amp; control, ALU design, register files, memory hierarchy/caches, CISC microcode (Mic-1/IJVM)</a:t>
            </a:r>
            <a:br>
              <a:rPr lang="en-US" sz="1400" dirty="0">
                <a:latin typeface="Tw Cen MT" panose="020B0602020104020603" pitchFamily="34" charset="0"/>
              </a:rPr>
            </a:br>
            <a:r>
              <a:rPr lang="en-US" sz="1400" b="1" dirty="0">
                <a:latin typeface="Tw Cen MT" panose="020B0602020104020603" pitchFamily="34" charset="0"/>
              </a:rPr>
              <a:t>Concepts:</a:t>
            </a:r>
            <a:r>
              <a:rPr lang="en-US" sz="1400" dirty="0">
                <a:latin typeface="Tw Cen MT" panose="020B0602020104020603" pitchFamily="34" charset="0"/>
              </a:rPr>
              <a:t> digital logic design, combinational vs. sequential logic, clocking &amp; FSMs, performance analysis (CPI, Fmax, AMAT)</a:t>
            </a:r>
          </a:p>
        </p:txBody>
      </p:sp>
    </p:spTree>
    <p:extLst>
      <p:ext uri="{BB962C8B-B14F-4D97-AF65-F5344CB8AC3E}">
        <p14:creationId xmlns:p14="http://schemas.microsoft.com/office/powerpoint/2010/main" val="911869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1482</Words>
  <Application>Microsoft Office PowerPoint</Application>
  <PresentationFormat>Widescreen</PresentationFormat>
  <Paragraphs>184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Courier New</vt:lpstr>
      <vt:lpstr>Tw Cen MT</vt:lpstr>
      <vt:lpstr>Tw Cen MT Condensed Extra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Natalie Broshar</cp:lastModifiedBy>
  <cp:revision>5</cp:revision>
  <dcterms:created xsi:type="dcterms:W3CDTF">2026-08-24T21:30:22Z</dcterms:created>
  <dcterms:modified xsi:type="dcterms:W3CDTF">2026-08-31T13:21:29Z</dcterms:modified>
</cp:coreProperties>
</file>