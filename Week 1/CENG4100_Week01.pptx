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0758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E1B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4008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E7B8C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CENG 4100 · COMPUTER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6289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Week 1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592928" y="3611880"/>
            <a:ext cx="1005840" cy="27432"/>
          </a:xfrm>
          <a:prstGeom prst="rect">
            <a:avLst/>
          </a:prstGeom>
          <a:solidFill>
            <a:srgbClr val="E7B8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3794760"/>
            <a:ext cx="103628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3D9DF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Meet the Machine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45262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E7B8C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Phase 0 — Baseline · Milestone M0 begins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kern="0" spc="400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DUNWOODY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98932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kern="0" spc="300" dirty="0">
                <a:solidFill>
                  <a:srgbClr val="F3D9DF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COLLEGE OF TECHNOLOGY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This Week</a:t>
            </a: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Meet the Machine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You inherit a working RISC-V processor and spend the whole semester growing it. Today: meet the tools, meet the core, and put a design on real hardware.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892808"/>
            <a:ext cx="3503066" cy="3246120"/>
          </a:xfrm>
          <a:prstGeom prst="rect">
            <a:avLst/>
          </a:prstGeom>
          <a:solidFill>
            <a:srgbClr val="F8E8EC"/>
          </a:solidFill>
          <a:ln/>
          <a:effectLst>
            <a:outerShdw blurRad="63500" dist="25400" dir="5400000" algn="bl" rotWithShape="0">
              <a:srgbClr val="BFBFBF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89280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" y="2112264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Concept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68096" y="2788920"/>
            <a:ext cx="310073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What computer architecture is, the levels of abstraction from transistors to programs, and the RV32I base core you'll evolve for 16 weeks.</a:t>
            </a:r>
            <a:endParaRPr lang="en-US" sz="1450" dirty="0"/>
          </a:p>
          <a:p>
            <a:pPr marL="0" indent="0" algn="l">
              <a:lnSpc>
                <a:spcPct val="102000"/>
              </a:lnSpc>
              <a:buNone/>
            </a:pPr>
            <a:endParaRPr lang="en-US" sz="14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Read: SCO Ch 1; COD 1.1–1.5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4314" y="1892808"/>
            <a:ext cx="3503066" cy="3246120"/>
          </a:xfrm>
          <a:prstGeom prst="rect">
            <a:avLst/>
          </a:prstGeom>
          <a:solidFill>
            <a:srgbClr val="F8E8EC"/>
          </a:solidFill>
          <a:ln/>
          <a:effectLst>
            <a:outerShdw blurRad="63500" dist="25400" dir="5400000" algn="bl" rotWithShape="0">
              <a:srgbClr val="BFBFBF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44314" y="189280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45482" y="2112264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Lab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45482" y="2788920"/>
            <a:ext cx="310073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Install Vivado, open the base-core project, and program the Basys 3 (Artix-7). Read the RTL top module top to bottom and annotate it.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21701" y="1892808"/>
            <a:ext cx="3503066" cy="3246120"/>
          </a:xfrm>
          <a:prstGeom prst="rect">
            <a:avLst/>
          </a:prstGeom>
          <a:solidFill>
            <a:srgbClr val="F8E8EC"/>
          </a:solidFill>
          <a:ln/>
          <a:effectLst>
            <a:outerShdw blurRad="63500" dist="25400" dir="5400000" algn="bl" rotWithShape="0">
              <a:srgbClr val="BFBFBF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121701" y="189280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322869" y="2112264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Deliverable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2869" y="2788920"/>
            <a:ext cx="310073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 running demo bitstream on your board + a one-page RTL map in your design notebook. 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One core, all semester: everything you build from here bolts onto the design you meet today.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Levels of Abstraction</a:t>
            </a: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The Stack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 modern computer is a stack of layers. Architecture is the contract between the hardware and the software — the layer this course lives 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79520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9520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04088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Your C or assembly program — what you want the machine to do.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2833360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833360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545952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45952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70520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ISA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97952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The instruction set: the visible contract. We use RISC-V (RV32I).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99792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99792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812384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812384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236952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MICROARCH.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64384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How the ISA is actually built: datapath, control, pipeline.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66224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66224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078815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078815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503384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LOGIC / RTL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30816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Gates, registers, and FSMs written in Verilog.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632655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632655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0345247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345247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9769815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FPGA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797247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LUTs and flip-flops on the Artix-7 that become your circuit.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Architecture (the ISA) is the promise; microarchitecture is how you keep it. This course crosses both.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The Toolchain</a:t>
            </a: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Vivado + Basys 3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Two things you'll use every week: Vivado turns your Verilog into a bitstream, and the Basys 3 runs it as real silicon.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66928" y="189280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TODAY'S SETUP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350008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2350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25296" y="2313432"/>
            <a:ext cx="5468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Install Vivado.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Free Standard edition; add the Artix-7 (7-series) device family.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6928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25296" y="3118104"/>
            <a:ext cx="5468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Open the base core.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Load the provided project; set the Basys 3 </a:t>
            </a:r>
            <a:r>
              <a:rPr lang="en-US" sz="1600" dirty="0"/>
              <a:t>xc7a35tcpg236-1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as the target part.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959352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25296" y="3922776"/>
            <a:ext cx="5468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Synthesize &amp; implement.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Run synthesis → implementation → generate bitstream.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764024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" y="47640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25296" y="4727448"/>
            <a:ext cx="5468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Program the board.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Open Hardware Manager, connect over USB-JTAG, program the device.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903720" y="1892808"/>
            <a:ext cx="4718304" cy="306324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03720" y="1892808"/>
            <a:ext cx="4718304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104888" y="2093976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BASYS 3 · ARTIX-7 </a:t>
            </a:r>
            <a:r>
              <a:rPr lang="en-US" dirty="0"/>
              <a:t>xc7a35tcpg236-1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23176" y="2642616"/>
            <a:ext cx="4297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33,280 logic cells · 5,200 slices (4 LUTs + 8 FFs each)</a:t>
            </a:r>
            <a:endParaRPr lang="en-US" sz="1450" dirty="0"/>
          </a:p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90 DSP slices · 1,800 Kb block RAM</a:t>
            </a:r>
            <a:endParaRPr lang="en-US" sz="1450" dirty="0"/>
          </a:p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16 switches · 16 LEDs · 5 buttons · 4-digit 7-seg</a:t>
            </a:r>
            <a:endParaRPr lang="en-US" sz="1450" dirty="0"/>
          </a:p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USB-JTAG programming · USB-UART bridge · 4 Pmods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Write → Synthesize → Implement → Program. That loop never changes, all semester.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60604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Read the RTL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566928" y="3493008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3584448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The base core, top to bottom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The Base Core</a:t>
            </a: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A Single-Cycle RV32I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The core you inherit executes one instruction per clock. Five blocks do all the work — learn their names now; you'll rebuild every 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892808"/>
            <a:ext cx="2572436" cy="233172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892808"/>
            <a:ext cx="257243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" y="2093976"/>
            <a:ext cx="2170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FETCH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734056"/>
            <a:ext cx="21518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PC register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Instruction memory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PC + 4 adder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95396" y="1892808"/>
            <a:ext cx="2572436" cy="233172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95396" y="1892808"/>
            <a:ext cx="257243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96564" y="2093976"/>
            <a:ext cx="2170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DECODE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14852" y="2734056"/>
            <a:ext cx="21518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Register file (32×32)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Immediate generator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Control unit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23864" y="1892808"/>
            <a:ext cx="2572436" cy="233172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223864" y="1892808"/>
            <a:ext cx="257243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25032" y="2093976"/>
            <a:ext cx="2170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EXECUTE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43320" y="2734056"/>
            <a:ext cx="21518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ALU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ALU control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Branch compare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52331" y="1892808"/>
            <a:ext cx="2572436" cy="233172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052331" y="1892808"/>
            <a:ext cx="257243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253499" y="2093976"/>
            <a:ext cx="2170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MEM / WB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271787" y="2734056"/>
            <a:ext cx="21518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Data memory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Load/store logic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Write-back mux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4453128"/>
            <a:ext cx="11057839" cy="2034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  <a:effectLst>
            <a:outerShdw blurRad="63500" dist="25400" dir="5400000" algn="bl" rotWithShape="0">
              <a:srgbClr val="BFBFBF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66928" y="4453128"/>
            <a:ext cx="11057839" cy="310896"/>
          </a:xfrm>
          <a:prstGeom prst="rect">
            <a:avLst/>
          </a:prstGeom>
          <a:solidFill>
            <a:srgbClr val="EDED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4944" y="4567428"/>
            <a:ext cx="82296" cy="82296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41248" y="4453128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rv_top.v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" y="4855464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42416" y="4855464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rv_top(</a:t>
            </a: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clk, </a:t>
            </a: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rst,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" y="5070348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42416" y="5070348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[15:0] led);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" y="5285232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42416" y="5285232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</a:t>
            </a: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[31:0] pc, instr, alu_y, rdata;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" y="5500116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42416" y="5500116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fetch  u_if (.clk(clk), .rst(rst), .pc(pc), .instr(instr));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1792" y="5715000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42416" y="5715000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decode u_id (.instr(instr), .imm(imm), .ctrl(ctrl));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1792" y="5929884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42416" y="5929884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execute u_ex(.a(rs1), .b(rs2), .imm(imm), .y(alu_y));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1792" y="6144768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42416" y="6144768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endmodule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How to Read RTL</a:t>
            </a: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Follow the Signals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Don't read Verilog top to bottom like a novel. Follow one signal — the program counter — as it flows through the design.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892808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892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25296" y="1856232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Find the clock &amp; reset.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Every sequential block keys off posedge clk and rst.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642616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2642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25296" y="2606040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Find the PC register.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It's the heartbeat — where does it get its next value?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3392424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25296" y="3355848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Trace instruction fetch.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PC indexes instruction memory → the 32-bit instr word.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4142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225296" y="4105656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Watch it split in decode.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Opcode, funct3/7, register fields, immediate.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4892040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6928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25296" y="4855464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Follow to write-back.</a:t>
            </a: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Where does the result land back in the register file?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086600" y="1892808"/>
            <a:ext cx="4535424" cy="30175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086600" y="1892808"/>
            <a:ext cx="4535424" cy="256032"/>
          </a:xfrm>
          <a:prstGeom prst="rect">
            <a:avLst/>
          </a:prstGeom>
          <a:solidFill>
            <a:srgbClr val="2C2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214616" y="1892808"/>
            <a:ext cx="4261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B8B8B8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VIVADO TCL CONSOLE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232904" y="2221992"/>
            <a:ext cx="4242816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open_project rv_core.xpr</a:t>
            </a:r>
            <a:endParaRPr lang="en-US" sz="12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launch_runs synth_1</a:t>
            </a:r>
            <a:endParaRPr lang="en-US" sz="12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INFO: synthesis complete</a:t>
            </a:r>
            <a:endParaRPr lang="en-US" sz="12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launch_runs impl_1 -to_step</a:t>
            </a:r>
            <a:endParaRPr lang="en-US" sz="12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write_bitstream</a:t>
            </a:r>
            <a:endParaRPr lang="en-US" sz="12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INFO: bitstream written:</a:t>
            </a:r>
            <a:endParaRPr lang="en-US" sz="12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rv_top.bit</a:t>
            </a:r>
            <a:endParaRPr lang="en-US" sz="12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program device</a:t>
            </a:r>
            <a:endParaRPr lang="en-US" sz="12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INFO: Programmed XC7A35T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You can't change what you can't trace. Name every wire before you touch one.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60604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Working Towards Milestone M0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566928" y="3493008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3584448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Meet the machine — get it running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The Lab</a:t>
            </a: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Four Sections, One Rule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Every weekly lab has the same four sections. Work them in order — you must be able to EXPLAIN every line you submit.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2558720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938528"/>
            <a:ext cx="2558720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62824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562824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04088" y="2926080"/>
            <a:ext cx="228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ANCHOR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456432"/>
            <a:ext cx="2229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Program the provided demo to the board. Confirm your toolchain works end to 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399968" y="1938528"/>
            <a:ext cx="2558720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99968" y="1938528"/>
            <a:ext cx="2558720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95864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95864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537128" y="2926080"/>
            <a:ext cx="228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GUIDED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4560" y="3456432"/>
            <a:ext cx="2229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Annotate rv_top.v: label each of the five blocks and the signals between them.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33008" y="1938528"/>
            <a:ext cx="2558720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33008" y="1938528"/>
            <a:ext cx="2558720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228904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228904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370168" y="2926080"/>
            <a:ext cx="228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EXTENSION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97600" y="3456432"/>
            <a:ext cx="2229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Change which switches drive the LEDs; re-synthesize and re-program.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66047" y="1938528"/>
            <a:ext cx="2558720" cy="320040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066047" y="1938528"/>
            <a:ext cx="2558720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061943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061943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03207" y="2926080"/>
            <a:ext cx="228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STRETCH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230639" y="3456432"/>
            <a:ext cx="2229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Record Fmax and LUT/FF counts from the reports. 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Together in class: Anchor + Guided. On your own: Extension + Stretch.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Reading Response #1</a:t>
            </a: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SCO Ch 1 · COD 1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Reading responses are 15% of your grade. Short, specific answers in your own words — post to Canvas before next class.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3503066" cy="301752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93852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" y="2139696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DEFINE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779776"/>
            <a:ext cx="308244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What is the difference between computer ARCHITECTURE and ORGANIZATION?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Name the six levels in Tanenbaum's layered machine.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4314" y="1938528"/>
            <a:ext cx="3503066" cy="301752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44314" y="193852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45482" y="2139696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EXPLAIN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63770" y="2779776"/>
            <a:ext cx="308244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Why is the ISA called a 'contract'? Who are the two parties?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What does 'RISC' mean, and what does the 'V' add?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1701" y="1938528"/>
            <a:ext cx="3503066" cy="3017520"/>
          </a:xfrm>
          <a:prstGeom prst="rect">
            <a:avLst/>
          </a:prstGeom>
          <a:solidFill>
            <a:srgbClr val="F8E8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121701" y="193852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322869" y="2139696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APPLY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41157" y="2779776"/>
            <a:ext cx="308244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List the five blocks of the base core and one job each.</a:t>
            </a:r>
            <a:endParaRPr lang="en-US" sz="1400" dirty="0"/>
          </a:p>
          <a:p>
            <a:pPr marL="165100" indent="-165100" algn="l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Which Basys 3 resources limit how big your core can grow?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Week 1 Reflection</a:t>
            </a: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Design Notebook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Close every week here. Log it in your design notebook — the notebook + check-ins are 8% of your grade.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1134</Words>
  <Application>Microsoft Office PowerPoint</Application>
  <PresentationFormat>Widescreen</PresentationFormat>
  <Paragraphs>171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Courier New</vt:lpstr>
      <vt:lpstr>Tw Cen MT</vt:lpstr>
      <vt:lpstr>Tw Cen MT Condensed Extra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Natalie Broshar</cp:lastModifiedBy>
  <cp:revision>2</cp:revision>
  <dcterms:created xsi:type="dcterms:W3CDTF">2026-08-24T21:30:22Z</dcterms:created>
  <dcterms:modified xsi:type="dcterms:W3CDTF">2026-08-31T12:43:28Z</dcterms:modified>
</cp:coreProperties>
</file>