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E1B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4008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300" kern="0" dirty="0">
                <a:solidFill>
                  <a:srgbClr val="E7B8C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CENG 4100 · COMPUTER ARCHITECTURE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14400" y="2331720"/>
            <a:ext cx="1036289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Week 1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5592928" y="3611880"/>
            <a:ext cx="1005840" cy="27432"/>
          </a:xfrm>
          <a:prstGeom prst="rect">
            <a:avLst/>
          </a:prstGeom>
          <a:solidFill>
            <a:srgbClr val="E7B8C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94760"/>
            <a:ext cx="103628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3D9DF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Meet the Machine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14400" y="452628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7B8C2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Phase 0 — Baseline · Milestone M0 begins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57784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400" kern="0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DUNWOODY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98932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300" kern="0" dirty="0">
                <a:solidFill>
                  <a:srgbClr val="F3D9DF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COLLEGE OF TECHNOLOGY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This Week</a:t>
            </a:r>
            <a:pPr algn="l"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Meet the Machine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You inherit a working RISC-V processor and spend the whole semester growing it. Today: meet the tools, meet the core, and put a design on real hardware.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892808"/>
            <a:ext cx="3503066" cy="3246120"/>
          </a:xfrm>
          <a:prstGeom prst="rect">
            <a:avLst/>
          </a:prstGeom>
          <a:solidFill>
            <a:srgbClr val="F8E8EC"/>
          </a:solidFill>
          <a:ln/>
          <a:effectLst>
            <a:outerShdw sx="100000" sy="100000" kx="0" ky="0" algn="bl" rotWithShape="0" blurRad="63500" dist="25400" dir="5400000">
              <a:srgbClr val="BFBFBF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892808"/>
            <a:ext cx="3503066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2112264"/>
            <a:ext cx="31007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Concept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68096" y="2788920"/>
            <a:ext cx="310073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What computer architecture is, the levels of abstraction from transistors to programs, and the RV32I base core you'll evolve for 16 weeks.</a:t>
            </a:r>
            <a:endParaRPr lang="en-US" sz="1450" dirty="0"/>
          </a:p>
          <a:p>
            <a:pPr algn="l" indent="0" marL="0">
              <a:lnSpc>
                <a:spcPct val="102000"/>
              </a:lnSpc>
              <a:buNone/>
            </a:pPr>
            <a:endParaRPr lang="en-US" sz="14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Read: SCO Ch 1; COD 1.1–1.5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44314" y="1892808"/>
            <a:ext cx="3503066" cy="3246120"/>
          </a:xfrm>
          <a:prstGeom prst="rect">
            <a:avLst/>
          </a:prstGeom>
          <a:solidFill>
            <a:srgbClr val="F8E8EC"/>
          </a:solidFill>
          <a:ln/>
          <a:effectLst>
            <a:outerShdw sx="100000" sy="100000" kx="0" ky="0" algn="bl" rotWithShape="0" blurRad="63500" dist="25400" dir="5400000">
              <a:srgbClr val="BFBFBF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4314" y="1892808"/>
            <a:ext cx="3503066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11" name="Text 9"/>
          <p:cNvSpPr/>
          <p:nvPr/>
        </p:nvSpPr>
        <p:spPr>
          <a:xfrm>
            <a:off x="4545482" y="2112264"/>
            <a:ext cx="31007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Lab · M0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45482" y="2788920"/>
            <a:ext cx="310073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Install Vivado, open the base-core project, and program the Basys 3 (Artix-7). Read the RTL top module top to bottom and annotate it.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121701" y="1892808"/>
            <a:ext cx="3503066" cy="3246120"/>
          </a:xfrm>
          <a:prstGeom prst="rect">
            <a:avLst/>
          </a:prstGeom>
          <a:solidFill>
            <a:srgbClr val="F8E8EC"/>
          </a:solidFill>
          <a:ln/>
          <a:effectLst>
            <a:outerShdw sx="100000" sy="100000" kx="0" ky="0" algn="bl" rotWithShape="0" blurRad="63500" dist="25400" dir="5400000">
              <a:srgbClr val="BFBFBF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21701" y="1892808"/>
            <a:ext cx="3503066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15" name="Text 13"/>
          <p:cNvSpPr/>
          <p:nvPr/>
        </p:nvSpPr>
        <p:spPr>
          <a:xfrm>
            <a:off x="8322869" y="2112264"/>
            <a:ext cx="31007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Deliverable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322869" y="2788920"/>
            <a:ext cx="310073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A running demo bitstream on your board + a one-page RTL map in your design notebook. Reading response #1 posted on Canvas.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E1B32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One core, all semester: everything you build from here bolts onto the design you meet today.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19" name="Text 17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Levels of Abstraction</a:t>
            </a:r>
            <a:pPr algn="l"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The Stack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A modern computer is a stack of layers. Architecture is the contract between the hardware and the software — the layer this course lives in.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938528"/>
            <a:ext cx="1992112" cy="320040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938528"/>
            <a:ext cx="1992112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7" name="Shape 5"/>
          <p:cNvSpPr/>
          <p:nvPr/>
        </p:nvSpPr>
        <p:spPr>
          <a:xfrm>
            <a:off x="1279520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8" name="Text 6"/>
          <p:cNvSpPr/>
          <p:nvPr/>
        </p:nvSpPr>
        <p:spPr>
          <a:xfrm>
            <a:off x="1279520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04088" y="2926080"/>
            <a:ext cx="171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456432"/>
            <a:ext cx="1662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Your C or assembly program — what you want the machine to do.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2833360" y="1938528"/>
            <a:ext cx="1992112" cy="320040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12" name="Shape 10"/>
          <p:cNvSpPr/>
          <p:nvPr/>
        </p:nvSpPr>
        <p:spPr>
          <a:xfrm>
            <a:off x="2833360" y="1938528"/>
            <a:ext cx="1992112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13" name="Shape 11"/>
          <p:cNvSpPr/>
          <p:nvPr/>
        </p:nvSpPr>
        <p:spPr>
          <a:xfrm>
            <a:off x="3545952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14" name="Text 12"/>
          <p:cNvSpPr/>
          <p:nvPr/>
        </p:nvSpPr>
        <p:spPr>
          <a:xfrm>
            <a:off x="3545952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970520" y="2926080"/>
            <a:ext cx="171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ISA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997952" y="3456432"/>
            <a:ext cx="1662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The instruction set: the visible contract. We use RISC-V (RV32I).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99792" y="1938528"/>
            <a:ext cx="1992112" cy="320040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18" name="Shape 16"/>
          <p:cNvSpPr/>
          <p:nvPr/>
        </p:nvSpPr>
        <p:spPr>
          <a:xfrm>
            <a:off x="5099792" y="1938528"/>
            <a:ext cx="1992112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5812384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20" name="Text 18"/>
          <p:cNvSpPr/>
          <p:nvPr/>
        </p:nvSpPr>
        <p:spPr>
          <a:xfrm>
            <a:off x="5812384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236952" y="2926080"/>
            <a:ext cx="171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MICROARCH.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64384" y="3456432"/>
            <a:ext cx="1662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How the ISA is actually built: datapath, control, pipeline.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366224" y="1938528"/>
            <a:ext cx="1992112" cy="320040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24" name="Shape 22"/>
          <p:cNvSpPr/>
          <p:nvPr/>
        </p:nvSpPr>
        <p:spPr>
          <a:xfrm>
            <a:off x="7366224" y="1938528"/>
            <a:ext cx="1992112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25" name="Shape 23"/>
          <p:cNvSpPr/>
          <p:nvPr/>
        </p:nvSpPr>
        <p:spPr>
          <a:xfrm>
            <a:off x="8078815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26" name="Text 24"/>
          <p:cNvSpPr/>
          <p:nvPr/>
        </p:nvSpPr>
        <p:spPr>
          <a:xfrm>
            <a:off x="8078815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503384" y="2926080"/>
            <a:ext cx="171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LOGIC / RTL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30816" y="3456432"/>
            <a:ext cx="1662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Gates, registers, and FSMs written in Verilog.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9632655" y="1938528"/>
            <a:ext cx="1992112" cy="320040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30" name="Shape 28"/>
          <p:cNvSpPr/>
          <p:nvPr/>
        </p:nvSpPr>
        <p:spPr>
          <a:xfrm>
            <a:off x="9632655" y="1938528"/>
            <a:ext cx="1992112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31" name="Shape 29"/>
          <p:cNvSpPr/>
          <p:nvPr/>
        </p:nvSpPr>
        <p:spPr>
          <a:xfrm>
            <a:off x="10345247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32" name="Text 30"/>
          <p:cNvSpPr/>
          <p:nvPr/>
        </p:nvSpPr>
        <p:spPr>
          <a:xfrm>
            <a:off x="10345247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9769815" y="2926080"/>
            <a:ext cx="171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FPGA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797247" y="3456432"/>
            <a:ext cx="16629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LUTs and flip-flops on the Artix-7 that become your circuit.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E1B32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Architecture (the ISA) is the promise; microarchitecture is how you keep it. This course crosses both.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37" name="Text 35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The Toolchain</a:t>
            </a:r>
            <a:pPr algn="l"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Vivado + Basys 3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Two things you'll use every week: Vivado turns your Verilog into a bitstream, and the Basys 3 runs it as real silicon.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66928" y="189280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TODAY'S SETUP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350008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350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25296" y="2313432"/>
            <a:ext cx="5468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Install Vivado.</a:t>
            </a:r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Free Standard edition; add the Artix-7 (7-series) device family.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25296" y="3118104"/>
            <a:ext cx="5468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Open the base core.</a:t>
            </a:r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Load the provided project; set the Basys 3 XC7A35T as the target part.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3959352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225296" y="3922776"/>
            <a:ext cx="5468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Synthesize &amp; implement.</a:t>
            </a:r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Run synthesis → implementation → generate bitstream.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764024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7640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25296" y="4727448"/>
            <a:ext cx="5468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Program the board.</a:t>
            </a:r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Open Hardware Manager, connect over USB-JTAG, program the device.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903720" y="1892808"/>
            <a:ext cx="4718304" cy="306324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19" name="Shape 17"/>
          <p:cNvSpPr/>
          <p:nvPr/>
        </p:nvSpPr>
        <p:spPr>
          <a:xfrm>
            <a:off x="6903720" y="1892808"/>
            <a:ext cx="4718304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20" name="Text 18"/>
          <p:cNvSpPr/>
          <p:nvPr/>
        </p:nvSpPr>
        <p:spPr>
          <a:xfrm>
            <a:off x="7104888" y="2093976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BASYS 3 · ARTIX-7 XC7A35T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123176" y="2642616"/>
            <a:ext cx="42976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33,280 logic cells · 5,200 slices (4 LUTs + 8 FFs each)</a:t>
            </a:r>
            <a:endParaRPr lang="en-US" sz="14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90 DSP slices · 1,800 Kb block RAM</a:t>
            </a:r>
            <a:endParaRPr lang="en-US" sz="14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16 switches · 16 LEDs · 5 buttons · 4-digit 7-seg</a:t>
            </a:r>
            <a:endParaRPr lang="en-US" sz="1450" dirty="0"/>
          </a:p>
          <a:p>
            <a:pPr algn="l" marL="177800" indent="-1778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USB-JTAG programming · USB-UART bridge · 3 Pmods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E1B32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Write → Synthesize → Implement → Program. That loop never changes, all semester.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24" name="Text 22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60604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Read the RTL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566928" y="3493008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584448"/>
            <a:ext cx="1105783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The base core, top to bottom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The Base Core</a:t>
            </a:r>
            <a:pPr algn="l"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A Single-Cycle RV32I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The core you inherit executes one instruction per clock. Five blocks do all the work — learn their names now; you'll rebuild every one.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892808"/>
            <a:ext cx="2572436" cy="233172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892808"/>
            <a:ext cx="2572436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2093976"/>
            <a:ext cx="2170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FETCH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86384" y="2734056"/>
            <a:ext cx="21518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PC register</a:t>
            </a:r>
            <a:endParaRPr lang="en-US" sz="1400" dirty="0"/>
          </a:p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Instruction memory</a:t>
            </a:r>
            <a:endParaRPr lang="en-US" sz="1400" dirty="0"/>
          </a:p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PC + 4 adder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95396" y="1892808"/>
            <a:ext cx="2572436" cy="233172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10" name="Shape 8"/>
          <p:cNvSpPr/>
          <p:nvPr/>
        </p:nvSpPr>
        <p:spPr>
          <a:xfrm>
            <a:off x="3395396" y="1892808"/>
            <a:ext cx="2572436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11" name="Text 9"/>
          <p:cNvSpPr/>
          <p:nvPr/>
        </p:nvSpPr>
        <p:spPr>
          <a:xfrm>
            <a:off x="3596564" y="2093976"/>
            <a:ext cx="2170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DECODE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614852" y="2734056"/>
            <a:ext cx="21518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Register file (32×32)</a:t>
            </a:r>
            <a:endParaRPr lang="en-US" sz="1400" dirty="0"/>
          </a:p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Immediate generator</a:t>
            </a:r>
            <a:endParaRPr lang="en-US" sz="1400" dirty="0"/>
          </a:p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Control unit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23864" y="1892808"/>
            <a:ext cx="2572436" cy="233172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14" name="Shape 12"/>
          <p:cNvSpPr/>
          <p:nvPr/>
        </p:nvSpPr>
        <p:spPr>
          <a:xfrm>
            <a:off x="6223864" y="1892808"/>
            <a:ext cx="2572436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15" name="Text 13"/>
          <p:cNvSpPr/>
          <p:nvPr/>
        </p:nvSpPr>
        <p:spPr>
          <a:xfrm>
            <a:off x="6425032" y="2093976"/>
            <a:ext cx="2170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EXECUTE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43320" y="2734056"/>
            <a:ext cx="21518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ALU</a:t>
            </a:r>
            <a:endParaRPr lang="en-US" sz="1400" dirty="0"/>
          </a:p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ALU control</a:t>
            </a:r>
            <a:endParaRPr lang="en-US" sz="1400" dirty="0"/>
          </a:p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Branch compare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052331" y="1892808"/>
            <a:ext cx="2572436" cy="233172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18" name="Shape 16"/>
          <p:cNvSpPr/>
          <p:nvPr/>
        </p:nvSpPr>
        <p:spPr>
          <a:xfrm>
            <a:off x="9052331" y="1892808"/>
            <a:ext cx="2572436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19" name="Text 17"/>
          <p:cNvSpPr/>
          <p:nvPr/>
        </p:nvSpPr>
        <p:spPr>
          <a:xfrm>
            <a:off x="9253499" y="2093976"/>
            <a:ext cx="2170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MEM / WB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271787" y="2734056"/>
            <a:ext cx="21518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Data memory</a:t>
            </a:r>
            <a:endParaRPr lang="en-US" sz="1400" dirty="0"/>
          </a:p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Load/store logic</a:t>
            </a:r>
            <a:endParaRPr lang="en-US" sz="1400" dirty="0"/>
          </a:p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Write-back mux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4453128"/>
            <a:ext cx="11057839" cy="20345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  <a:prstDash val="solid"/>
          </a:ln>
          <a:effectLst>
            <a:outerShdw sx="100000" sy="100000" kx="0" ky="0" algn="bl" rotWithShape="0" blurRad="63500" dist="25400" dir="5400000">
              <a:srgbClr val="BFBFBF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66928" y="4453128"/>
            <a:ext cx="11057839" cy="310896"/>
          </a:xfrm>
          <a:prstGeom prst="rect">
            <a:avLst/>
          </a:prstGeom>
          <a:solidFill>
            <a:srgbClr val="EDEDED"/>
          </a:solidFill>
          <a:ln/>
        </p:spPr>
      </p:sp>
      <p:sp>
        <p:nvSpPr>
          <p:cNvPr id="23" name="Shape 21"/>
          <p:cNvSpPr/>
          <p:nvPr/>
        </p:nvSpPr>
        <p:spPr>
          <a:xfrm>
            <a:off x="694944" y="4567428"/>
            <a:ext cx="82296" cy="82296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453128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rv_top.v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" y="4855464"/>
            <a:ext cx="31089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42416" y="4855464"/>
            <a:ext cx="10472623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5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rv_top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sz="1100" dirty="0">
                <a:solidFill>
                  <a:srgbClr val="1A5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buNone/>
            </a:pPr>
            <a:r>
              <a:rPr lang="en-US" sz="1100" dirty="0">
                <a:solidFill>
                  <a:srgbClr val="1A5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rst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" y="5070348"/>
            <a:ext cx="31089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42416" y="5070348"/>
            <a:ext cx="10472623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pPr algn="l" indent="0" marL="0">
              <a:buNone/>
            </a:pPr>
            <a:r>
              <a:rPr lang="en-US" sz="1100" dirty="0">
                <a:solidFill>
                  <a:srgbClr val="1A5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1792" y="5285232"/>
            <a:ext cx="31089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42416" y="5285232"/>
            <a:ext cx="10472623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100" dirty="0">
                <a:solidFill>
                  <a:srgbClr val="1A5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alu_y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rdata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" y="5500116"/>
            <a:ext cx="31089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42416" y="5500116"/>
            <a:ext cx="10472623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fetch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u_if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rst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rst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21792" y="5715000"/>
            <a:ext cx="31089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42416" y="5715000"/>
            <a:ext cx="10472623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u_id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1792" y="5929884"/>
            <a:ext cx="31089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42416" y="5929884"/>
            <a:ext cx="10472623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u_ex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rs1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rs2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alu_y</a:t>
            </a:r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21792" y="6144768"/>
            <a:ext cx="310896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0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42416" y="6144768"/>
            <a:ext cx="10472623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56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endmodule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40" name="Text 38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How to Read RTL</a:t>
            </a:r>
            <a:pPr algn="l"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Follow the Signals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Don't read Verilog top to bottom like a novel. Follow one signal — the program counter — as it flows through the design.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892808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92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25296" y="1856232"/>
            <a:ext cx="5650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Find the clock &amp; reset.</a:t>
            </a:r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Every sequential block keys off posedge clk and rst.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642616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642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25296" y="2606040"/>
            <a:ext cx="5650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Find the PC register.</a:t>
            </a:r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It's the heartbeat — where does it get its next value?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6928" y="3392424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3924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25296" y="3355848"/>
            <a:ext cx="5650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Trace instruction fetch.</a:t>
            </a:r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PC indexes instruction memory → the 32-bit instr word.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142232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41422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225296" y="4105656"/>
            <a:ext cx="5650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Watch it split in decode.</a:t>
            </a:r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Opcode, funct3/7, register fields, immediate.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66928" y="4892040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" y="4892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225296" y="4855464"/>
            <a:ext cx="5650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Follow to write-back.</a:t>
            </a:r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Where does the result land back in the register file?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086600" y="1892808"/>
            <a:ext cx="4535424" cy="30175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1" name="Shape 19"/>
          <p:cNvSpPr/>
          <p:nvPr/>
        </p:nvSpPr>
        <p:spPr>
          <a:xfrm>
            <a:off x="7086600" y="1892808"/>
            <a:ext cx="4535424" cy="256032"/>
          </a:xfrm>
          <a:prstGeom prst="rect">
            <a:avLst/>
          </a:prstGeom>
          <a:solidFill>
            <a:srgbClr val="2C2C2C"/>
          </a:solidFill>
          <a:ln/>
        </p:spPr>
      </p:sp>
      <p:sp>
        <p:nvSpPr>
          <p:cNvPr id="22" name="Text 20"/>
          <p:cNvSpPr/>
          <p:nvPr/>
        </p:nvSpPr>
        <p:spPr>
          <a:xfrm>
            <a:off x="7214616" y="1892808"/>
            <a:ext cx="4261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8B8B8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VIVADO TCL CONSOLE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232904" y="2221992"/>
            <a:ext cx="4242816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FD1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open_project rv_core.xpr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FD1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launch_runs synth_1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INFO: synthesis complete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FD1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launch_runs impl_1 -to_step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write_bitstream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INFO: bitstream written: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rv_top.bit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FD1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program device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8E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INFO: Programmed XC7A35T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E1B32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You can't change what you can't trace. Name every wire before you touch one.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26" name="Text 24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60604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Milestone M0 · Lab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566928" y="3493008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584448"/>
            <a:ext cx="1105783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Meet the machine — get it running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The Lab</a:t>
            </a:r>
            <a:pPr algn="l"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Four Sections, One Rule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Every weekly lab has the same four sections. Work them in order — you must be able to EXPLAIN every line you submit.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938528"/>
            <a:ext cx="2558720" cy="320040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938528"/>
            <a:ext cx="2558720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7" name="Shape 5"/>
          <p:cNvSpPr/>
          <p:nvPr/>
        </p:nvSpPr>
        <p:spPr>
          <a:xfrm>
            <a:off x="1562824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8" name="Text 6"/>
          <p:cNvSpPr/>
          <p:nvPr/>
        </p:nvSpPr>
        <p:spPr>
          <a:xfrm>
            <a:off x="1562824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04088" y="2926080"/>
            <a:ext cx="228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ANCHOR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3456432"/>
            <a:ext cx="2229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Program the provided demo to the board. Confirm your toolchain works end to end.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399968" y="1938528"/>
            <a:ext cx="2558720" cy="320040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99968" y="1938528"/>
            <a:ext cx="2558720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13" name="Shape 11"/>
          <p:cNvSpPr/>
          <p:nvPr/>
        </p:nvSpPr>
        <p:spPr>
          <a:xfrm>
            <a:off x="4395864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14" name="Text 12"/>
          <p:cNvSpPr/>
          <p:nvPr/>
        </p:nvSpPr>
        <p:spPr>
          <a:xfrm>
            <a:off x="4395864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537128" y="2926080"/>
            <a:ext cx="228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GUIDED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64560" y="3456432"/>
            <a:ext cx="2229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Annotate rv_top.v: label each of the five blocks and the signals between them.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33008" y="1938528"/>
            <a:ext cx="2558720" cy="320040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18" name="Shape 16"/>
          <p:cNvSpPr/>
          <p:nvPr/>
        </p:nvSpPr>
        <p:spPr>
          <a:xfrm>
            <a:off x="6233008" y="1938528"/>
            <a:ext cx="2558720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19" name="Shape 17"/>
          <p:cNvSpPr/>
          <p:nvPr/>
        </p:nvSpPr>
        <p:spPr>
          <a:xfrm>
            <a:off x="7228904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20" name="Text 18"/>
          <p:cNvSpPr/>
          <p:nvPr/>
        </p:nvSpPr>
        <p:spPr>
          <a:xfrm>
            <a:off x="7228904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370168" y="2926080"/>
            <a:ext cx="228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EXTENSION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97600" y="3456432"/>
            <a:ext cx="2229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Change which switches drive the LEDs; re-synthesize and re-program.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066047" y="1938528"/>
            <a:ext cx="2558720" cy="320040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24" name="Shape 22"/>
          <p:cNvSpPr/>
          <p:nvPr/>
        </p:nvSpPr>
        <p:spPr>
          <a:xfrm>
            <a:off x="9066047" y="1938528"/>
            <a:ext cx="2558720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25" name="Shape 23"/>
          <p:cNvSpPr/>
          <p:nvPr/>
        </p:nvSpPr>
        <p:spPr>
          <a:xfrm>
            <a:off x="10061943" y="2231136"/>
            <a:ext cx="566928" cy="566928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26" name="Text 24"/>
          <p:cNvSpPr/>
          <p:nvPr/>
        </p:nvSpPr>
        <p:spPr>
          <a:xfrm>
            <a:off x="10061943" y="22311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03207" y="2926080"/>
            <a:ext cx="228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STRETCH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230639" y="3456432"/>
            <a:ext cx="2229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Record Fmax and LUT/FF counts from the reports. (Optional — sets up Week 2.)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E1B32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Together in class: Anchor + Guided. On your own: Extension + Stretch.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31" name="Text 29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Reading Response #1</a:t>
            </a:r>
            <a:pPr algn="l"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SCO Ch 1 · COD 1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Reading responses are 15% of your grade. Short, specific answers in your own words — post to Canvas before next class.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938528"/>
            <a:ext cx="3503066" cy="301752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938528"/>
            <a:ext cx="3503066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2139696"/>
            <a:ext cx="31007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DEFINE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86384" y="2779776"/>
            <a:ext cx="308244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What is the difference between computer ARCHITECTURE and ORGANIZATION?</a:t>
            </a:r>
            <a:endParaRPr lang="en-US" sz="1400" dirty="0"/>
          </a:p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Name the six levels in Tanenbaum's layered machine.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44314" y="1938528"/>
            <a:ext cx="3503066" cy="301752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10" name="Shape 8"/>
          <p:cNvSpPr/>
          <p:nvPr/>
        </p:nvSpPr>
        <p:spPr>
          <a:xfrm>
            <a:off x="4344314" y="1938528"/>
            <a:ext cx="3503066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11" name="Text 9"/>
          <p:cNvSpPr/>
          <p:nvPr/>
        </p:nvSpPr>
        <p:spPr>
          <a:xfrm>
            <a:off x="4545482" y="2139696"/>
            <a:ext cx="31007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EXPLAIN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63770" y="2779776"/>
            <a:ext cx="308244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Why is the ISA called a 'contract'? Who are the two parties?</a:t>
            </a:r>
            <a:endParaRPr lang="en-US" sz="1400" dirty="0"/>
          </a:p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What does 'RISC' mean, and what does the 'V' add?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1701" y="1938528"/>
            <a:ext cx="3503066" cy="3017520"/>
          </a:xfrm>
          <a:prstGeom prst="rect">
            <a:avLst/>
          </a:prstGeom>
          <a:solidFill>
            <a:srgbClr val="F8E8EC"/>
          </a:solidFill>
          <a:ln/>
        </p:spPr>
      </p:sp>
      <p:sp>
        <p:nvSpPr>
          <p:cNvPr id="14" name="Shape 12"/>
          <p:cNvSpPr/>
          <p:nvPr/>
        </p:nvSpPr>
        <p:spPr>
          <a:xfrm>
            <a:off x="8121701" y="1938528"/>
            <a:ext cx="3503066" cy="82296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15" name="Text 13"/>
          <p:cNvSpPr/>
          <p:nvPr/>
        </p:nvSpPr>
        <p:spPr>
          <a:xfrm>
            <a:off x="8322869" y="2139696"/>
            <a:ext cx="31007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APPLY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41157" y="2779776"/>
            <a:ext cx="308244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List the five blocks of the base core and one job each.</a:t>
            </a:r>
            <a:endParaRPr lang="en-US" sz="1400" dirty="0"/>
          </a:p>
          <a:p>
            <a:pPr algn="l" marL="165100" indent="-1651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Which Basys 3 resources limit how big your core can grow?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66928" y="58064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E1B32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Answer in your own words. Cite the section, not the sentence.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19" name="Text 17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7839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Week 1 Reflection</a:t>
            </a:r>
            <a:pPr algn="l"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   |   </a:t>
            </a:r>
            <a:pPr algn="l" indent="0" marL="0">
              <a:buNone/>
            </a:pPr>
            <a:r>
              <a:rPr lang="en-US" sz="3300" b="1" dirty="0">
                <a:solidFill>
                  <a:srgbClr val="1A1A1A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Design Notebook</a:t>
            </a:r>
            <a:endParaRPr lang="en-US" sz="3300" dirty="0"/>
          </a:p>
        </p:txBody>
      </p:sp>
      <p:sp>
        <p:nvSpPr>
          <p:cNvPr id="3" name="Shape 1"/>
          <p:cNvSpPr/>
          <p:nvPr/>
        </p:nvSpPr>
        <p:spPr>
          <a:xfrm>
            <a:off x="566928" y="1060704"/>
            <a:ext cx="11057839" cy="25603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Close every week here. Log it in your design notebook — the notebook + check-ins are 8% of your grade.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1892808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92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25296" y="1856232"/>
            <a:ext cx="10222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In your own words:</a:t>
            </a:r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what does it mean that the base core is 'single-cycle'?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523744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5237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25296" y="2487168"/>
            <a:ext cx="10222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Draw the datapath.</a:t>
            </a:r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From memory, sketch the five blocks and the signals connecting them.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66928" y="3154680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25296" y="3118104"/>
            <a:ext cx="10222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Toolchain check:</a:t>
            </a:r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list every step from Verilog source to a running board — in order.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3785616"/>
            <a:ext cx="457200" cy="457200"/>
          </a:xfrm>
          <a:prstGeom prst="ellipse">
            <a:avLst/>
          </a:prstGeom>
          <a:solidFill>
            <a:srgbClr val="9E1B32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785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225296" y="3749040"/>
            <a:ext cx="10222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One question:</a:t>
            </a:r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  what part of the RTL made the least sense? Bring it to office hours.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98932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E1B32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Next week  →  Measure it: cycles, Fmax, and utilization — the baseline you'll beat all semester.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19" name="Text 17"/>
          <p:cNvSpPr/>
          <p:nvPr/>
        </p:nvSpPr>
        <p:spPr>
          <a:xfrm>
            <a:off x="0" y="63825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w Cen MT Condensed Extra Bold" pitchFamily="34" charset="0"/>
                <a:ea typeface="Tw Cen MT Condensed Extra Bold" pitchFamily="34" charset="-122"/>
                <a:cs typeface="Tw Cen MT Condensed Extra Bold" pitchFamily="34" charset="-120"/>
              </a:rPr>
              <a:t>D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1368735" y="640080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Tw Cen MT" pitchFamily="34" charset="0"/>
                <a:ea typeface="Tw Cen MT" pitchFamily="34" charset="-122"/>
                <a:cs typeface="Tw Cen MT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2026-08-24T21:30:22Z</dcterms:created>
  <dcterms:modified xsi:type="dcterms:W3CDTF">2026-08-24T21:30:22Z</dcterms:modified>
</cp:coreProperties>
</file>