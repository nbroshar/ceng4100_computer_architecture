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E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E7B8C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CENG 4100 · COMPUTER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233172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2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592928" y="3611880"/>
            <a:ext cx="1005840" cy="27432"/>
          </a:xfrm>
          <a:prstGeom prst="rect">
            <a:avLst/>
          </a:prstGeom>
          <a:solidFill>
            <a:srgbClr val="E7B8C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79476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3D9DF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Measure It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7B8C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Phase 0 — Baseline · Milestone M0 completes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5778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400" kern="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DUNWOODY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98932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3D9DF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COLLEGE OF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This Week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Measure It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 can't improve what you don't measure. Today you pin down the numbers that define your baseline — and that every later change will be judged against.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3503066" cy="3246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63500" dist="25400" dir="5400000">
              <a:srgbClr val="BFBFBF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928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12264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Concept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" y="2788920"/>
            <a:ext cx="31007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performance equation, CPI, clock rate vs. Fmax, FPGA utilization, and Amdahl's law.</a:t>
            </a:r>
            <a:endParaRPr lang="en-US" sz="1450" dirty="0"/>
          </a:p>
          <a:p>
            <a:pPr algn="l" indent="0" marL="0">
              <a:lnSpc>
                <a:spcPct val="102000"/>
              </a:lnSpc>
              <a:buNone/>
            </a:pPr>
            <a:endParaRPr lang="en-US" sz="14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Read: COD 1.6–1.12; SCO 2.1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4314" y="1892808"/>
            <a:ext cx="3503066" cy="3246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63500" dist="25400" dir="5400000">
              <a:srgbClr val="BFBFBF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4314" y="18928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1" name="Text 9"/>
          <p:cNvSpPr/>
          <p:nvPr/>
        </p:nvSpPr>
        <p:spPr>
          <a:xfrm>
            <a:off x="4545482" y="2112264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Lab · M0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45482" y="2788920"/>
            <a:ext cx="31007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Run a reference program on the core. Record the baseline: cycle count, Fmax, and LUT / FF / BRAM / DSP utilization.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21701" y="1892808"/>
            <a:ext cx="3503066" cy="3246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63500" dist="25400" dir="5400000">
              <a:srgbClr val="BFBFBF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21701" y="18928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8322869" y="2112264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Deliverable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22869" y="2788920"/>
            <a:ext cx="31007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baseline table in your design notebook. These numbers are the 'before' for the whole semester. Reading response #2.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Today's numbers are the yardstick. Every optimization from here gets measured against them.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Where We Are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Core Runs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Last week you met the machine and put it on the board. Now we quantify exactly what 'it runs' means.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Shape 5"/>
          <p:cNvSpPr/>
          <p:nvPr/>
        </p:nvSpPr>
        <p:spPr>
          <a:xfrm>
            <a:off x="1562824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1562824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DONE · W1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Vivado installed, base core programmed to the Basys 3.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99968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2" name="Shape 10"/>
          <p:cNvSpPr/>
          <p:nvPr/>
        </p:nvSpPr>
        <p:spPr>
          <a:xfrm>
            <a:off x="3399968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5864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4395864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37128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DONE · W1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4560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 the RTL top to bottom; named all five blocks.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3008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8" name="Shape 16"/>
          <p:cNvSpPr/>
          <p:nvPr/>
        </p:nvSpPr>
        <p:spPr>
          <a:xfrm>
            <a:off x="6233008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7228904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0" name="Text 18"/>
          <p:cNvSpPr/>
          <p:nvPr/>
        </p:nvSpPr>
        <p:spPr>
          <a:xfrm>
            <a:off x="7228904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TODAY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7600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Measure cycles, Fmax, and utilization — lock the baseline.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66047" y="1984248"/>
            <a:ext cx="2558720" cy="301752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24" name="Shape 22"/>
          <p:cNvSpPr/>
          <p:nvPr/>
        </p:nvSpPr>
        <p:spPr>
          <a:xfrm>
            <a:off x="9066047" y="198424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61943" y="227685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6" name="Text 24"/>
          <p:cNvSpPr/>
          <p:nvPr/>
        </p:nvSpPr>
        <p:spPr>
          <a:xfrm>
            <a:off x="10061943" y="2276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03207" y="297180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NEXT · W3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0639" y="3502152"/>
            <a:ext cx="2229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Start changing the hardware: add an instruction.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Milestone M0 = a running core you fully understand and have measured. Finish it today.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Performance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One Equation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All of processor performance reduces to one equation. Everything you build this semester moves one of its three terms.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84248"/>
            <a:ext cx="11057839" cy="100584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84248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CPU time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=  Instructions × </a:t>
            </a:r>
            <a:pPr algn="ctr"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CPI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× Clock period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6928" y="3264408"/>
            <a:ext cx="3503066" cy="17830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32644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538728"/>
            <a:ext cx="3320186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IC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94944" y="4298594"/>
            <a:ext cx="32470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Instruction count — set by the ISA and the compiler.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44314" y="3264408"/>
            <a:ext cx="3503066" cy="17830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4314" y="32644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3" name="Text 11"/>
          <p:cNvSpPr/>
          <p:nvPr/>
        </p:nvSpPr>
        <p:spPr>
          <a:xfrm>
            <a:off x="4435754" y="3538728"/>
            <a:ext cx="3320186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CPI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472330" y="4298594"/>
            <a:ext cx="32470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Cycles per instruction — set by the microarchitecture.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21701" y="3264408"/>
            <a:ext cx="3503066" cy="17830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1701" y="32644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7" name="Text 15"/>
          <p:cNvSpPr/>
          <p:nvPr/>
        </p:nvSpPr>
        <p:spPr>
          <a:xfrm>
            <a:off x="8213141" y="3538728"/>
            <a:ext cx="3320186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249717" y="4298594"/>
            <a:ext cx="32470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Clock period (1 / Fmax) — set by the critical path.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Lower any one factor without raising the others, and the program runs faster. That's the whole game.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Three Levers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Who Controls What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Each term has a different owner. Knowing who controls each keeps you from 'optimizing' something you can't actually move.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3503066" cy="306324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INSTRUCTION COUNT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779776"/>
            <a:ext cx="308244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Owned by the ISA + compiler</a:t>
            </a:r>
            <a:endParaRPr lang="en-US" sz="1400" dirty="0"/>
          </a:p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richer instruction can do more per line (CISC)</a:t>
            </a:r>
            <a:endParaRPr lang="en-US" sz="1400" dirty="0"/>
          </a:p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You'll change this in Week 5 by adding an instruction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4314" y="1938528"/>
            <a:ext cx="3503066" cy="306324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0" name="Shape 8"/>
          <p:cNvSpPr/>
          <p:nvPr/>
        </p:nvSpPr>
        <p:spPr>
          <a:xfrm>
            <a:off x="4344314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1" name="Text 9"/>
          <p:cNvSpPr/>
          <p:nvPr/>
        </p:nvSpPr>
        <p:spPr>
          <a:xfrm>
            <a:off x="4545482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CPI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63770" y="2779776"/>
            <a:ext cx="308244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Owned by the microarchitecture</a:t>
            </a:r>
            <a:endParaRPr lang="en-US" sz="1400" dirty="0"/>
          </a:p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Single-cycle = 1, but forces a slow clock</a:t>
            </a:r>
            <a:endParaRPr lang="en-US" sz="1400" dirty="0"/>
          </a:p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Pipelining (Week 7+) attacks this — ideally toward 1 at high clock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1701" y="1938528"/>
            <a:ext cx="3503066" cy="306324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8121701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8322869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CLOCK PERIOD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41157" y="2779776"/>
            <a:ext cx="308244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Owned by the critical path</a:t>
            </a:r>
            <a:endParaRPr lang="en-US" sz="1400" dirty="0"/>
          </a:p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= 1 / Fmax, reported by Vivado timing</a:t>
            </a:r>
            <a:endParaRPr lang="en-US" sz="1400" dirty="0"/>
          </a:p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Shorter logic between registers → higher Fmax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Beware the trap: single-cycle wins on CPI but loses on clock period. Net speed is the product.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Timing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Fmax &amp; the Critical Path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 an FPGA your clock speed isn't a spec — it's an outcome. Vivado computes the longest logic delay and tells you how fast you may run.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25296" y="1856232"/>
            <a:ext cx="5650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Critical path.</a:t>
            </a:r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The slowest register-to-register logic delay in the design.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642616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642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25296" y="2606040"/>
            <a:ext cx="5650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Setup slack (WNS).</a:t>
            </a:r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Time to spare before the next clock edge. Negative = fails timing.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3392424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25296" y="3355848"/>
            <a:ext cx="5650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Fmax.</a:t>
            </a:r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The highest clock the design can meet: 1 / (T − WNS).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142232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25296" y="4105656"/>
            <a:ext cx="5650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Your job.</a:t>
            </a:r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Shorten the critical path to raise Fmax — without breaking correctness.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086600" y="1892808"/>
            <a:ext cx="4535424" cy="2971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7086600" y="1892808"/>
            <a:ext cx="4535424" cy="256032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9" name="Text 17"/>
          <p:cNvSpPr/>
          <p:nvPr/>
        </p:nvSpPr>
        <p:spPr>
          <a:xfrm>
            <a:off x="7214616" y="1892808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8B8B8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TIMING SUMMARY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232904" y="2221992"/>
            <a:ext cx="424281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report_timing_summary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Timing Summary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WNS(ns)   TNS(ns)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------- --------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1.24     0.000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user constraints met.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Clock: sys_clk  100.00 MHz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Fmax ~= 1/(10ns-1.24ns)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~= 114 MHz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Positive slack means you have headroom. Negative slack means the design is lying about its clock.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Utilization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Artix-7 Budget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Your core is carved out of finite silicon. The Basys 3's XC7A35T gives you a fixed budget of four resource types.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2572436" cy="22860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938528"/>
            <a:ext cx="257243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212848"/>
            <a:ext cx="23895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20,800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94944" y="3264408"/>
            <a:ext cx="23164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LUTs — logic (33,280 cells / 5,200 slices)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95396" y="1938528"/>
            <a:ext cx="2572436" cy="22860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0" name="Shape 8"/>
          <p:cNvSpPr/>
          <p:nvPr/>
        </p:nvSpPr>
        <p:spPr>
          <a:xfrm>
            <a:off x="3395396" y="1938528"/>
            <a:ext cx="257243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1" name="Text 9"/>
          <p:cNvSpPr/>
          <p:nvPr/>
        </p:nvSpPr>
        <p:spPr>
          <a:xfrm>
            <a:off x="3486836" y="2212848"/>
            <a:ext cx="23895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41,600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23412" y="3264408"/>
            <a:ext cx="23164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Flip-flops — state and pipeline registers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23864" y="1938528"/>
            <a:ext cx="2572436" cy="22860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223864" y="1938528"/>
            <a:ext cx="257243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6315304" y="2212848"/>
            <a:ext cx="23895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50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351880" y="3264408"/>
            <a:ext cx="23164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36Kb BRAMs — 1,800 Kb of block RAM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052331" y="1938528"/>
            <a:ext cx="2572436" cy="22860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8" name="Shape 16"/>
          <p:cNvSpPr/>
          <p:nvPr/>
        </p:nvSpPr>
        <p:spPr>
          <a:xfrm>
            <a:off x="9052331" y="1938528"/>
            <a:ext cx="257243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3771" y="2212848"/>
            <a:ext cx="23895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90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180347" y="3264408"/>
            <a:ext cx="23164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DSP48 slices — fast multiply / MAC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Watch the DSP and BRAM counts especially — a multiplier or a cache can exhaust them fast.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Code-Along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Read the Reports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two reports you'll open every week. Run them after implementation and copy the numbers straight into your notebook.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5486400" cy="2926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892808"/>
            <a:ext cx="5486400" cy="256032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8928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8B8B8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UTILIZATION REPORT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2221992"/>
            <a:ext cx="5193792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report_utilization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+----------------+------+-------+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Site Type      | Used | Avail |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+----------------+------+-------+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Slice LUTs     | 1842 | 20800 |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Slice Registers|  987 | 41600 |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Block RAM Tile |    2 |    50 |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DSPs           |    0 |    90 |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+----------------+------+-------+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892808"/>
            <a:ext cx="5266944" cy="29260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892808"/>
            <a:ext cx="5266944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2093976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BASELINE TO RECORD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74536" y="2642616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Cycle count for the reference program (from simulation)</a:t>
            </a:r>
            <a:endParaRPr lang="en-US" sz="14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Fmax from the timing summary (1 / (T − WNS))</a:t>
            </a:r>
            <a:endParaRPr lang="en-US" sz="14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LUT / FF / BRAM / DSP counts from utilization</a:t>
            </a:r>
            <a:endParaRPr lang="en-US" sz="14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CPI = cycles ÷ instructions retired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Six numbers. Write them down once; you'll compare against them for fifteen weeks.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Amdahl's Law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Reality Check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Before you optimize anything, ask how much it can possibly help. Amdahl's law caps your speedup by the fraction you actually touch.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84248"/>
            <a:ext cx="11057839" cy="9144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842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Speedup</a:t>
            </a:r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=  1 / ( (1 − f) + f / s 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3127248"/>
            <a:ext cx="3503066" cy="17830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312724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332841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F = FRACTION AFFECTED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" y="3968496"/>
            <a:ext cx="30824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Speed up 30% of runtime → best case is a 1.43× overall, ever.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4314" y="3127248"/>
            <a:ext cx="3503066" cy="17830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4314" y="312724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3" name="Text 11"/>
          <p:cNvSpPr/>
          <p:nvPr/>
        </p:nvSpPr>
        <p:spPr>
          <a:xfrm>
            <a:off x="4545482" y="332841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 = LOCAL SPEEDUP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63770" y="3968496"/>
            <a:ext cx="30824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Make that 30% infinitely fast (s→∞) → still only 1 / 0.7 = 1.43×.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1701" y="3127248"/>
            <a:ext cx="3503066" cy="178308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1701" y="312724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7" name="Text 15"/>
          <p:cNvSpPr/>
          <p:nvPr/>
        </p:nvSpPr>
        <p:spPr>
          <a:xfrm>
            <a:off x="8322869" y="332841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LESSON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41157" y="3968496"/>
            <a:ext cx="30824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Optimize the common case. A huge win on a rare path barely moves the needle.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Make the common case fast. Amdahl decides whether an optimization is worth the effort.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0604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Milestone M0 · Lab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66928" y="3493008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584448"/>
            <a:ext cx="1105783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Measure it — lock the baseline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Lab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Record the Baseline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Run the reference program and capture six numbers. Same four sections, same rule: explain every value you report.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Shape 5"/>
          <p:cNvSpPr/>
          <p:nvPr/>
        </p:nvSpPr>
        <p:spPr>
          <a:xfrm>
            <a:off x="156282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156282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ANCHOR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Simulate the reference program; read the retired-instruction and cycle counts.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9996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2" name="Shape 10"/>
          <p:cNvSpPr/>
          <p:nvPr/>
        </p:nvSpPr>
        <p:spPr>
          <a:xfrm>
            <a:off x="339996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586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439586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3712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GUIDED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456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Implement the design; pull Fmax from timing and LUT/FF/BRAM/DSP from utilization.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300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8" name="Shape 16"/>
          <p:cNvSpPr/>
          <p:nvPr/>
        </p:nvSpPr>
        <p:spPr>
          <a:xfrm>
            <a:off x="623300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722890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0" name="Text 18"/>
          <p:cNvSpPr/>
          <p:nvPr/>
        </p:nvSpPr>
        <p:spPr>
          <a:xfrm>
            <a:off x="722890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EXTENSION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760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Compute CPI and CPU time. Fill in the baseline table.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66047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24" name="Shape 22"/>
          <p:cNvSpPr/>
          <p:nvPr/>
        </p:nvSpPr>
        <p:spPr>
          <a:xfrm>
            <a:off x="9066047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61943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6" name="Text 24"/>
          <p:cNvSpPr/>
          <p:nvPr/>
        </p:nvSpPr>
        <p:spPr>
          <a:xfrm>
            <a:off x="10061943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03207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STRETCH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0639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Predict which single change would help most — and cite Amdahl. (Optional.)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Together in class: Anchor + Guided. On your own: Extension + Stretch.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Reading Response #2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COD 1.6–1.12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Short, specific, in your own words. Post to Canvas before next class.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3503066" cy="301752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DEFINE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779776"/>
            <a:ext cx="308244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Write the performance equation and name each term's owner.</a:t>
            </a:r>
            <a:endParaRPr lang="en-US" sz="1400" dirty="0"/>
          </a:p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What is the difference between clock RATE and Fmax?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4314" y="1938528"/>
            <a:ext cx="3503066" cy="301752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0" name="Shape 8"/>
          <p:cNvSpPr/>
          <p:nvPr/>
        </p:nvSpPr>
        <p:spPr>
          <a:xfrm>
            <a:off x="4344314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1" name="Text 9"/>
          <p:cNvSpPr/>
          <p:nvPr/>
        </p:nvSpPr>
        <p:spPr>
          <a:xfrm>
            <a:off x="4545482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EXPLAIN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63770" y="2779776"/>
            <a:ext cx="308244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Why can a lower CPI still mean a SLOWER processor?</a:t>
            </a:r>
            <a:endParaRPr lang="en-US" sz="1400" dirty="0"/>
          </a:p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What does negative setup slack (WNS) actually mean?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1701" y="1938528"/>
            <a:ext cx="3503066" cy="3017520"/>
          </a:xfrm>
          <a:prstGeom prst="rect">
            <a:avLst/>
          </a:prstGeom>
          <a:solidFill>
            <a:srgbClr val="F8E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8121701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8322869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APPLY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41157" y="2779776"/>
            <a:ext cx="308244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Given IC, CPI, and Fmax, compute CPU time.</a:t>
            </a:r>
            <a:endParaRPr lang="en-US" sz="1400" dirty="0"/>
          </a:p>
          <a:p>
            <a:pPr algn="l" marL="165100" indent="-1651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Use Amdahl to bound a speedup on 40% of runtime.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Show the arithmetic. A number without units earns no credit.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2 Reflection</a:t>
            </a:r>
            <a:pPr algn="l"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Design Notebook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Log your baseline and your reasoning. Notebook + check-ins are 8% of your grade.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25296" y="1856232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State your baseline:</a:t>
            </a:r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cycles, IC, CPI, Fmax, and the four utilization numbers.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523744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25296" y="2487168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Explain the trade:</a:t>
            </a:r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why does single-cycle give CPI = 1 but a low Fmax?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315468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25296" y="3118104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Predict:</a:t>
            </a:r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which resource (LUT/FF/BRAM/DSP) will run out first as you grow the core?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3785616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25296" y="3749040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One question:</a:t>
            </a:r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which report number surprised you most, and why?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59893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Next week  →  Add an instruction: meet the single-cycle datapath you're about to edit.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2026-08-24T21:30:23Z</dcterms:created>
  <dcterms:modified xsi:type="dcterms:W3CDTF">2026-08-24T21:30:23Z</dcterms:modified>
</cp:coreProperties>
</file>