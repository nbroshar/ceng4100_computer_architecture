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5CB9C5-F19A-4647-9211-0531AFE0A9E0}" v="1" dt="2026-08-24T22:00:54.7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alie Broshar" userId="c2ff11c0-5f1c-48ed-a930-17e04bb83249" providerId="ADAL" clId="{55F01509-CF37-41EF-8C5E-863A5FFDA0AA}"/>
    <pc:docChg chg="modSld">
      <pc:chgData name="Natalie Broshar" userId="c2ff11c0-5f1c-48ed-a930-17e04bb83249" providerId="ADAL" clId="{55F01509-CF37-41EF-8C5E-863A5FFDA0AA}" dt="2026-08-24T22:01:08.049" v="1" actId="20577"/>
      <pc:docMkLst>
        <pc:docMk/>
      </pc:docMkLst>
      <pc:sldChg chg="modSp mod">
        <pc:chgData name="Natalie Broshar" userId="c2ff11c0-5f1c-48ed-a930-17e04bb83249" providerId="ADAL" clId="{55F01509-CF37-41EF-8C5E-863A5FFDA0AA}" dt="2026-08-24T22:01:08.049" v="1" actId="20577"/>
        <pc:sldMkLst>
          <pc:docMk/>
          <pc:sldMk cId="0" sldId="256"/>
        </pc:sldMkLst>
        <pc:spChg chg="mod">
          <ac:chgData name="Natalie Broshar" userId="c2ff11c0-5f1c-48ed-a930-17e04bb83249" providerId="ADAL" clId="{55F01509-CF37-41EF-8C5E-863A5FFDA0AA}" dt="2026-08-24T22:01:08.049" v="1" actId="20577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8112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E1B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300" dirty="0">
                <a:solidFill>
                  <a:srgbClr val="E7B8C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CENG 4100 · COMPUTER ARCHITECTURE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14400" y="2331720"/>
            <a:ext cx="103628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Week 4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5592928" y="3611880"/>
            <a:ext cx="1005840" cy="27432"/>
          </a:xfrm>
          <a:prstGeom prst="rect">
            <a:avLst/>
          </a:prstGeom>
          <a:solidFill>
            <a:srgbClr val="E7B8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3794760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3D9DF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…the CISC Way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452628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E7B8C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Phase 1 — The ISA · Milestone M1 (microcode)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557784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kern="0" spc="400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DUNWOODY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989320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kern="0" spc="300" dirty="0">
                <a:solidFill>
                  <a:srgbClr val="F3D9DF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COLLEGE OF TECHNOLOGY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This Week</a:t>
            </a:r>
            <a:r>
              <a:rPr lang="en-US" sz="33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|   </a:t>
            </a: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Add It in Microcode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5603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You add your instruction the CISC way first — not by changing hardware, but by writing microcode. One layer below the ISA is a tiny program that interprets it.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1892808"/>
            <a:ext cx="3503066" cy="3246120"/>
          </a:xfrm>
          <a:prstGeom prst="rect">
            <a:avLst/>
          </a:prstGeom>
          <a:solidFill>
            <a:srgbClr val="F8E8EC"/>
          </a:solidFill>
          <a:ln/>
          <a:effectLst>
            <a:outerShdw blurRad="63500" dist="25400" dir="5400000" algn="bl" rotWithShape="0">
              <a:srgbClr val="BFBFBF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" y="1892808"/>
            <a:ext cx="3503066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8096" y="2112264"/>
            <a:ext cx="31007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Concept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68096" y="2788920"/>
            <a:ext cx="310073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The microarchitecture level, Tanenbaum's Mic-1, microprogramming, and the IJVM stack ISA.</a:t>
            </a:r>
            <a:endParaRPr lang="en-US" sz="1450" dirty="0"/>
          </a:p>
          <a:p>
            <a:pPr marL="0" indent="0" algn="l">
              <a:lnSpc>
                <a:spcPct val="102000"/>
              </a:lnSpc>
              <a:buNone/>
            </a:pPr>
            <a:endParaRPr lang="en-US" sz="14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Read: SCO 4.1–4.2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344314" y="1892808"/>
            <a:ext cx="3503066" cy="3246120"/>
          </a:xfrm>
          <a:prstGeom prst="rect">
            <a:avLst/>
          </a:prstGeom>
          <a:solidFill>
            <a:srgbClr val="F8E8EC"/>
          </a:solidFill>
          <a:ln/>
          <a:effectLst>
            <a:outerShdw blurRad="63500" dist="25400" dir="5400000" algn="bl" rotWithShape="0">
              <a:srgbClr val="BFBFBF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44314" y="1892808"/>
            <a:ext cx="3503066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45482" y="2112264"/>
            <a:ext cx="31007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Lab · M1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545482" y="2788920"/>
            <a:ext cx="310073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Extend the Mic-1 control store: write the microcode that implements your assigned IJVM instruction, subcycle by subcycle.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121701" y="1892808"/>
            <a:ext cx="3503066" cy="3246120"/>
          </a:xfrm>
          <a:prstGeom prst="rect">
            <a:avLst/>
          </a:prstGeom>
          <a:solidFill>
            <a:srgbClr val="F8E8EC"/>
          </a:solidFill>
          <a:ln/>
          <a:effectLst>
            <a:outerShdw blurRad="63500" dist="25400" dir="5400000" algn="bl" rotWithShape="0">
              <a:srgbClr val="BFBFBF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121701" y="1892808"/>
            <a:ext cx="3503066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322869" y="2112264"/>
            <a:ext cx="31007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Deliverable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322869" y="2788920"/>
            <a:ext cx="310073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Working microcode for your instruction + a trace of its data-path cycles. Reading response #4.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66928" y="58064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CISC hides complexity in microcode. Next week you'll expose it in hardware — and feel the difference.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36873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0A6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Where We Are</a:t>
            </a:r>
            <a:r>
              <a:rPr lang="en-US" sz="33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|   </a:t>
            </a: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Two Ways, One Instruction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5603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You understand the datapath. Now add one instruction two different ways so the RISC vs CISC trade-off stops being abstract.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1984248"/>
            <a:ext cx="2558720" cy="301752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" y="198424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562824" y="2276856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562824" y="22768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04088" y="2971800"/>
            <a:ext cx="228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DONE · W3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502152"/>
            <a:ext cx="22295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Mapped the datapath; picked the edit points for your instruction.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399968" y="1984248"/>
            <a:ext cx="2558720" cy="301752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99968" y="198424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395864" y="2276856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95864" y="22768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537128" y="2971800"/>
            <a:ext cx="228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TODAY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64560" y="3502152"/>
            <a:ext cx="22295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Add it the CISC way — microcode on the Mic-1.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33008" y="1984248"/>
            <a:ext cx="2558720" cy="301752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33008" y="198424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228904" y="2276856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228904" y="22768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370168" y="2971800"/>
            <a:ext cx="228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NEXT · W5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97600" y="3502152"/>
            <a:ext cx="22295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Add it the RISC way — hardware in the core.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9066047" y="1984248"/>
            <a:ext cx="2558720" cy="301752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066047" y="198424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061943" y="2276856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061943" y="22768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4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203207" y="2971800"/>
            <a:ext cx="228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COMPARE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230639" y="3502152"/>
            <a:ext cx="22295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Same instruction, two microarchitectures. Which was easier? Faster?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66928" y="58064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Milestone M1's whole point: build the same behavior twice and measure what each style costs.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136873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0A6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Two Philosophies</a:t>
            </a:r>
            <a:r>
              <a:rPr lang="en-US" sz="33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|   </a:t>
            </a: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CISC vs RISC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5603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Two answers to one question: should the hardware do a lot per instruction, or a little very fast? You'll build both this phase.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1938528"/>
            <a:ext cx="5346040" cy="306324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" y="1938528"/>
            <a:ext cx="5346040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8096" y="2139696"/>
            <a:ext cx="494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CISC — DO MORE PER INSTRUCTION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" y="2779776"/>
            <a:ext cx="492541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 algn="l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Rich, variable-length instructions</a:t>
            </a:r>
            <a:endParaRPr lang="en-US" sz="1400" dirty="0"/>
          </a:p>
          <a:p>
            <a:pPr marL="165100" indent="-165100" algn="l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Interpreted by MICROCODE in hardware</a:t>
            </a:r>
            <a:endParaRPr lang="en-US" sz="1400" dirty="0"/>
          </a:p>
          <a:p>
            <a:pPr marL="165100" indent="-165100" algn="l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Fewer instructions per program</a:t>
            </a:r>
            <a:endParaRPr lang="en-US" sz="1400" dirty="0"/>
          </a:p>
          <a:p>
            <a:pPr marL="165100" indent="-165100" algn="l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Complex control, simpler compiler</a:t>
            </a:r>
            <a:endParaRPr lang="en-US" sz="1400" dirty="0"/>
          </a:p>
          <a:p>
            <a:pPr marL="165100" indent="-165100" algn="l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Examples: x86, IJVM on the Mic-1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78728" y="1938528"/>
            <a:ext cx="5346040" cy="306324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278728" y="1938528"/>
            <a:ext cx="5346040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79896" y="2139696"/>
            <a:ext cx="494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RISC — DO LESS, BUT FASTER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98184" y="2779776"/>
            <a:ext cx="492541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 algn="l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Simple, fixed-length instructions</a:t>
            </a:r>
            <a:endParaRPr lang="en-US" sz="1400" dirty="0"/>
          </a:p>
          <a:p>
            <a:pPr marL="165100" indent="-165100" algn="l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Executed DIRECTLY by hardware</a:t>
            </a:r>
            <a:endParaRPr lang="en-US" sz="1400" dirty="0"/>
          </a:p>
          <a:p>
            <a:pPr marL="165100" indent="-165100" algn="l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More instructions per program</a:t>
            </a:r>
            <a:endParaRPr lang="en-US" sz="1400" dirty="0"/>
          </a:p>
          <a:p>
            <a:pPr marL="165100" indent="-165100" algn="l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Simple control, harder-working compiler</a:t>
            </a:r>
            <a:endParaRPr lang="en-US" sz="1400" dirty="0"/>
          </a:p>
          <a:p>
            <a:pPr marL="165100" indent="-165100" algn="l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Examples: RISC-V, ARM, MIPS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" y="58064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Microcode is the trick that lets simple hardware pretend to be a complex instruction set.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36873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0A6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The Mic-1</a:t>
            </a:r>
            <a:r>
              <a:rPr lang="en-US" sz="33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|   </a:t>
            </a: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A Microarchitecture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5603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Tanenbaum's Mic-1 is a minimal datapath driven entirely by microinstructions. Learn its parts — your microcode steers exactly these.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1892808"/>
            <a:ext cx="2558720" cy="3200400"/>
          </a:xfrm>
          <a:prstGeom prst="rect">
            <a:avLst/>
          </a:prstGeom>
          <a:solidFill>
            <a:srgbClr val="F8E8EC"/>
          </a:solidFill>
          <a:ln/>
          <a:effectLst>
            <a:outerShdw blurRad="63500" dist="25400" dir="5400000" algn="bl" rotWithShape="0">
              <a:srgbClr val="BFBFBF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" y="189280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8096" y="2112264"/>
            <a:ext cx="2156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Registers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68096" y="2788920"/>
            <a:ext cx="215638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MAR, MDR, PC, MBR, SP, LV, CPP, TOS, OPC, H — the working set the microcode shuffles data between.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3399968" y="1892808"/>
            <a:ext cx="2558720" cy="3200400"/>
          </a:xfrm>
          <a:prstGeom prst="rect">
            <a:avLst/>
          </a:prstGeom>
          <a:solidFill>
            <a:srgbClr val="F8E8EC"/>
          </a:solidFill>
          <a:ln/>
          <a:effectLst>
            <a:outerShdw blurRad="63500" dist="25400" dir="5400000" algn="bl" rotWithShape="0">
              <a:srgbClr val="BFBFBF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99968" y="189280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01136" y="2112264"/>
            <a:ext cx="2156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ALU + Shifter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01136" y="2788920"/>
            <a:ext cx="215638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One ALU and a shifter drive the C bus. Every microinstruction can compute one ALU result.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233008" y="1892808"/>
            <a:ext cx="2558720" cy="3200400"/>
          </a:xfrm>
          <a:prstGeom prst="rect">
            <a:avLst/>
          </a:prstGeom>
          <a:solidFill>
            <a:srgbClr val="F8E8EC"/>
          </a:solidFill>
          <a:ln/>
          <a:effectLst>
            <a:outerShdw blurRad="63500" dist="25400" dir="5400000" algn="bl" rotWithShape="0">
              <a:srgbClr val="BFBFBF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33008" y="189280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34176" y="2112264"/>
            <a:ext cx="2156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Buses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434176" y="2788920"/>
            <a:ext cx="215638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The B bus feeds the ALU; the C bus writes results back to one or more registers each cycle.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9066047" y="1892808"/>
            <a:ext cx="2558720" cy="3200400"/>
          </a:xfrm>
          <a:prstGeom prst="rect">
            <a:avLst/>
          </a:prstGeom>
          <a:solidFill>
            <a:srgbClr val="F8E8EC"/>
          </a:solidFill>
          <a:ln/>
          <a:effectLst>
            <a:outerShdw blurRad="63500" dist="25400" dir="5400000" algn="bl" rotWithShape="0">
              <a:srgbClr val="BFBFBF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066047" y="189280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267215" y="2112264"/>
            <a:ext cx="2156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Control Store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9267215" y="2788920"/>
            <a:ext cx="215638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The microprogram: 512 words of microcode. MPC selects the next microinstruction.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66928" y="58064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One ALU, a few buses, and a ROM of microinstructions. That's enough to interpret an entire ISA.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136873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0A6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Microcode</a:t>
            </a:r>
            <a:r>
              <a:rPr lang="en-US" sz="33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|   </a:t>
            </a: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One Instruction, Many Micro-ops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5603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Each IJVM instruction is not wired in — it's a short microprogram in the control store. Fetch/decode/execute are themselves microcode.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1892808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1892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25296" y="1856232"/>
            <a:ext cx="5468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Main loop.</a:t>
            </a:r>
            <a:r>
              <a:rPr lang="en-US" sz="15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  A microinstruction fetches the next IJVM byte into MBR.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642616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66928" y="26426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25296" y="2606040"/>
            <a:ext cx="5468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Dispatch.</a:t>
            </a:r>
            <a:r>
              <a:rPr lang="en-US" sz="15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  The opcode indexes the control store — a multiway microbranch.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66928" y="3392424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6928" y="33924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25296" y="3355848"/>
            <a:ext cx="5468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Execute.</a:t>
            </a:r>
            <a:r>
              <a:rPr lang="en-US" sz="15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  Several microinstructions carry out the operation on the datapath.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66928" y="4142232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6928" y="4142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25296" y="4105656"/>
            <a:ext cx="5468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Return.</a:t>
            </a:r>
            <a:r>
              <a:rPr lang="en-US" sz="15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  The last micro-op branches back to the main loop for the next byte.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903720" y="1892808"/>
            <a:ext cx="4718304" cy="292608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903720" y="1892808"/>
            <a:ext cx="4718304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104888" y="2093976"/>
            <a:ext cx="4315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A MICROINSTRUCTION'S FIELDS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123176" y="2642616"/>
            <a:ext cx="4297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NEXT_ADDRESS — where to go next in the store</a:t>
            </a:r>
            <a:endParaRPr lang="en-US" sz="1450" dirty="0"/>
          </a:p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JAM — conditional microbranch control</a:t>
            </a:r>
            <a:endParaRPr lang="en-US" sz="1450" dirty="0"/>
          </a:p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ALU / SH — the ALU and shifter function</a:t>
            </a:r>
            <a:endParaRPr lang="en-US" sz="1450" dirty="0"/>
          </a:p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C — which registers latch the C bus</a:t>
            </a:r>
            <a:endParaRPr lang="en-US" sz="1450" dirty="0"/>
          </a:p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MEM — read/write/fetch memory this cycle</a:t>
            </a:r>
            <a:endParaRPr lang="en-US" sz="1450" dirty="0"/>
          </a:p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B — which register drives the B bus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66928" y="58064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Writing microcode = filling in these fields, one datapath cycle at a time.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136873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0A6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The Data Path Cycle</a:t>
            </a:r>
            <a:r>
              <a:rPr lang="en-US" sz="33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|   </a:t>
            </a: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Four Subcycles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5603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Every Mic-1 microinstruction runs the datapath through the same four subcycles. Timing is why one micro-op does exactly one ALU operation.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1938528"/>
            <a:ext cx="2558720" cy="320040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" y="193852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562824" y="2231136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562824" y="22311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04088" y="2926080"/>
            <a:ext cx="228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SETUP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456432"/>
            <a:ext cx="22295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The chosen register is gated onto the B bus; control signals settle.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399968" y="1938528"/>
            <a:ext cx="2558720" cy="320040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99968" y="193852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395864" y="2231136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95864" y="22311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537128" y="2926080"/>
            <a:ext cx="228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COMPUTE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64560" y="3456432"/>
            <a:ext cx="22295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The ALU and shifter act on H (A input) and the B bus.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33008" y="1938528"/>
            <a:ext cx="2558720" cy="320040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33008" y="193852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228904" y="2231136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228904" y="22311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370168" y="2926080"/>
            <a:ext cx="228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WRITE C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97600" y="3456432"/>
            <a:ext cx="22295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The C-bus result latches into the selected registers.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9066047" y="1938528"/>
            <a:ext cx="2558720" cy="320040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066047" y="193852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061943" y="2231136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061943" y="22311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4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203207" y="2926080"/>
            <a:ext cx="228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NEXT MPC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230639" y="3456432"/>
            <a:ext cx="22295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NEXT_ADDRESS + JAM choose the following microinstruction.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66928" y="58064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One ALU op per microinstruction — so a rich instruction simply takes more microinstructions.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136873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0A6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IJVM</a:t>
            </a:r>
            <a:r>
              <a:rPr lang="en-US" sz="33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|   </a:t>
            </a: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A Stack Machine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5603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The Mic-1 interprets IJVM, a subset of the Java Virtual Machine. It's a stack ISA — operands live on a stack, not in named registers.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1892808"/>
            <a:ext cx="2572436" cy="2331720"/>
          </a:xfrm>
          <a:prstGeom prst="rect">
            <a:avLst/>
          </a:prstGeom>
          <a:solidFill>
            <a:srgbClr val="F8E8EC"/>
          </a:solidFill>
          <a:ln/>
          <a:effectLst>
            <a:outerShdw blurRad="63500" dist="25400" dir="5400000" algn="bl" rotWithShape="0">
              <a:srgbClr val="BFBFBF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" y="1892808"/>
            <a:ext cx="2572436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8096" y="2112264"/>
            <a:ext cx="21701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ILOAD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68096" y="2788920"/>
            <a:ext cx="21701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Push a local variable onto the stack (uses LV + offset).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3395396" y="1892808"/>
            <a:ext cx="2572436" cy="2331720"/>
          </a:xfrm>
          <a:prstGeom prst="rect">
            <a:avLst/>
          </a:prstGeom>
          <a:solidFill>
            <a:srgbClr val="F8E8EC"/>
          </a:solidFill>
          <a:ln/>
          <a:effectLst>
            <a:outerShdw blurRad="63500" dist="25400" dir="5400000" algn="bl" rotWithShape="0">
              <a:srgbClr val="BFBFBF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95396" y="1892808"/>
            <a:ext cx="2572436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96564" y="2112264"/>
            <a:ext cx="21701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IADD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596564" y="2788920"/>
            <a:ext cx="21701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Pop two, push their sum. The classic stack operation.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223864" y="1892808"/>
            <a:ext cx="2572436" cy="2331720"/>
          </a:xfrm>
          <a:prstGeom prst="rect">
            <a:avLst/>
          </a:prstGeom>
          <a:solidFill>
            <a:srgbClr val="F8E8EC"/>
          </a:solidFill>
          <a:ln/>
          <a:effectLst>
            <a:outerShdw blurRad="63500" dist="25400" dir="5400000" algn="bl" rotWithShape="0">
              <a:srgbClr val="BFBFBF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23864" y="1892808"/>
            <a:ext cx="2572436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25032" y="2112264"/>
            <a:ext cx="21701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IFEQ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425032" y="2788920"/>
            <a:ext cx="21701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Pop one; branch if it equals zero.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9052331" y="1892808"/>
            <a:ext cx="2572436" cy="2331720"/>
          </a:xfrm>
          <a:prstGeom prst="rect">
            <a:avLst/>
          </a:prstGeom>
          <a:solidFill>
            <a:srgbClr val="F8E8EC"/>
          </a:solidFill>
          <a:ln/>
          <a:effectLst>
            <a:outerShdw blurRad="63500" dist="25400" dir="5400000" algn="bl" rotWithShape="0">
              <a:srgbClr val="BFBFBF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052331" y="1892808"/>
            <a:ext cx="2572436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253499" y="2112264"/>
            <a:ext cx="21701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INVOKE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9253499" y="2788920"/>
            <a:ext cx="21701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Call a method — the heavy, multi-cycle instruction.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66928" y="544068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Stack machines make the compiler's job easy and the microcode's job interesting. TOS caches the top.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136873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0A6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Code-Along</a:t>
            </a:r>
            <a:r>
              <a:rPr lang="en-US" sz="33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|   </a:t>
            </a: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Microcode an Instruction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5603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Here is IADD as microcode, in the MAL notation. Each line is one microinstruction — one datapath cycle.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1892808"/>
            <a:ext cx="6035040" cy="24643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  <a:effectLst>
            <a:outerShdw blurRad="63500" dist="25400" dir="5400000" algn="bl" rotWithShape="0">
              <a:srgbClr val="BFBFBF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" y="1892808"/>
            <a:ext cx="6035040" cy="310896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94944" y="2007108"/>
            <a:ext cx="82296" cy="82296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41248" y="1892808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ijvm.mal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2295144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42416" y="2295144"/>
            <a:ext cx="5449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3F7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IADD: pop two, push sum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" y="2510028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42416" y="2510028"/>
            <a:ext cx="5449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iadd1  MAR = SP = SP - 1; rd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2724912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42416" y="2724912"/>
            <a:ext cx="5449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iadd2  H = TOS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" y="2939796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42416" y="2939796"/>
            <a:ext cx="5449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iadd3  MDR = TOS = MDR + H; wr;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" y="3154680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42416" y="3154680"/>
            <a:ext cx="5449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goto Main1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" y="3369564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42416" y="3369564"/>
            <a:ext cx="5449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" y="3584448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42416" y="3584448"/>
            <a:ext cx="5449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3F7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your task: microcode ISUB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" y="3799332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42416" y="3799332"/>
            <a:ext cx="5449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3F7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(hint: reuse H, negate,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" y="4014216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42416" y="4014216"/>
            <a:ext cx="5449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3F7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then add)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58000" y="1892808"/>
            <a:ext cx="4764024" cy="292608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858000" y="1892808"/>
            <a:ext cx="4764024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059168" y="2093976"/>
            <a:ext cx="4361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READING THE MICROCODE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077456" y="2642616"/>
            <a:ext cx="4343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SP - 1 walks the stack pointer down</a:t>
            </a:r>
            <a:endParaRPr lang="en-US" sz="1450" dirty="0"/>
          </a:p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rd / wr issue a memory read / write this cycle</a:t>
            </a:r>
            <a:endParaRPr lang="en-US" sz="1450" dirty="0"/>
          </a:p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H is the fixed ALU 'A' input — stage operands there</a:t>
            </a:r>
            <a:endParaRPr lang="en-US" sz="1450" dirty="0"/>
          </a:p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goto Main1 returns to the fetch-decode loop</a:t>
            </a:r>
            <a:endParaRPr lang="en-US" sz="1450" dirty="0"/>
          </a:p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Each label is one control-store address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566928" y="58064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Same instruction as next week — but here it's software (microcode), not new wires.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1136873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0A6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606040"/>
            <a:ext cx="1105783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Milestone M1 · Lab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566928" y="3493008"/>
            <a:ext cx="11057839" cy="25603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3584448"/>
            <a:ext cx="1105783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Add your instruction in microcode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36873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0A6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The Lab</a:t>
            </a:r>
            <a:r>
              <a:rPr lang="en-US" sz="33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|   </a:t>
            </a: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Extend the Mic-1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5603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Write and trace the microcode for your assigned IJVM instruction. Same four sections, same rule: explain every microinstruction.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1938528"/>
            <a:ext cx="2558720" cy="320040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" y="193852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562824" y="2231136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562824" y="22311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04088" y="2926080"/>
            <a:ext cx="228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ANCHOR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456432"/>
            <a:ext cx="22295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Trace the provided IADD microcode cycle by cycle in the simulator.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399968" y="1938528"/>
            <a:ext cx="2558720" cy="320040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99968" y="193852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395864" y="2231136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95864" y="22311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537128" y="2926080"/>
            <a:ext cx="228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GUIDED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64560" y="3456432"/>
            <a:ext cx="22295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Write the microcode for a related instruction (e.g. ISUB) together.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33008" y="1938528"/>
            <a:ext cx="2558720" cy="320040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33008" y="193852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228904" y="2231136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228904" y="22311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370168" y="2926080"/>
            <a:ext cx="228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EXTENSION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97600" y="3456432"/>
            <a:ext cx="22295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Implement your assigned IJVM instruction in the control store.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9066047" y="1938528"/>
            <a:ext cx="2558720" cy="320040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066047" y="193852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061943" y="2231136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061943" y="22311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4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203207" y="2926080"/>
            <a:ext cx="228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STRETCH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230639" y="3456432"/>
            <a:ext cx="22295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Count its microinstructions; estimate its cycle cost. (Optional.)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66928" y="58064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Together in class: Anchor + Guided. On your own: Extension + Stretch.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136873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0A6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Reading Response #4</a:t>
            </a:r>
            <a:r>
              <a:rPr lang="en-US" sz="33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|   </a:t>
            </a: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SCO 4.1–4.2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5603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Short, specific, in your own words. Post to Canvas before next class.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1938528"/>
            <a:ext cx="3503066" cy="301752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" y="1938528"/>
            <a:ext cx="3503066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8096" y="2139696"/>
            <a:ext cx="31007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DEFINE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" y="2779776"/>
            <a:ext cx="308244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 algn="l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What is microcode, and where does it live?</a:t>
            </a:r>
            <a:endParaRPr lang="en-US" sz="1400" dirty="0"/>
          </a:p>
          <a:p>
            <a:pPr marL="165100" indent="-165100" algn="l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What are the fields of a Mic-1 microinstruction?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4314" y="1938528"/>
            <a:ext cx="3503066" cy="301752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44314" y="1938528"/>
            <a:ext cx="3503066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45482" y="2139696"/>
            <a:ext cx="31007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EXPLAIN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63770" y="2779776"/>
            <a:ext cx="308244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 algn="l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How does the Mic-1 dispatch on an IJVM opcode?</a:t>
            </a:r>
            <a:endParaRPr lang="en-US" sz="1400" dirty="0"/>
          </a:p>
          <a:p>
            <a:pPr marL="165100" indent="-165100" algn="l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Why does each microinstruction do only one ALU operation?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21701" y="1938528"/>
            <a:ext cx="3503066" cy="301752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121701" y="1938528"/>
            <a:ext cx="3503066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322869" y="2139696"/>
            <a:ext cx="31007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APPLY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41157" y="2779776"/>
            <a:ext cx="308244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 algn="l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Write the microcode for one simple IJVM instruction.</a:t>
            </a:r>
            <a:endParaRPr lang="en-US" sz="1400" dirty="0"/>
          </a:p>
          <a:p>
            <a:pPr marL="165100" indent="-165100" algn="l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Count the datapath cycles your assigned instruction needs.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66928" y="58064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Reference specific registers (H, MDR, SP, TOS) — vague answers about 'the ALU' don't count.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36873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0A6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Week 4 Reflection</a:t>
            </a:r>
            <a:r>
              <a:rPr lang="en-US" sz="33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|   </a:t>
            </a: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Design Notebook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5603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Log your microcode and its cycle trace. Notebook + check-ins are 8% of your grade.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1892808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1892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25296" y="1856232"/>
            <a:ext cx="10222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In your own words:</a:t>
            </a:r>
            <a:r>
              <a:rPr lang="en-US" sz="15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  what does microcode buy you versus building hardware?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523744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66928" y="2523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25296" y="2487168"/>
            <a:ext cx="10222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Trace it:</a:t>
            </a:r>
            <a:r>
              <a:rPr lang="en-US" sz="15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  list the datapath cycles your instruction took, and what each did.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66928" y="315468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6928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25296" y="3118104"/>
            <a:ext cx="10222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Predict:</a:t>
            </a:r>
            <a:r>
              <a:rPr lang="en-US" sz="15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  will the hardware (RISC) version next week be faster? Why?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66928" y="3785616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6928" y="37856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25296" y="3749040"/>
            <a:ext cx="10222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One question:</a:t>
            </a:r>
            <a:r>
              <a:rPr lang="en-US" sz="15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  which microinstruction field confused you most? Bring it to office hours.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66928" y="598932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Next week  →  Add the same instruction the RISC way — real hardware in the core, then compare.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36873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0A6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1385</Words>
  <Application>Microsoft Office PowerPoint</Application>
  <PresentationFormat>Widescreen</PresentationFormat>
  <Paragraphs>207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Courier New</vt:lpstr>
      <vt:lpstr>Tw Cen MT</vt:lpstr>
      <vt:lpstr>Tw Cen MT Condensed Extra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PptxGenJS;broshar</dc:creator>
  <cp:lastModifiedBy>Natalie Broshar</cp:lastModifiedBy>
  <cp:revision>1</cp:revision>
  <dcterms:created xsi:type="dcterms:W3CDTF">2026-08-24T21:30:23Z</dcterms:created>
  <dcterms:modified xsi:type="dcterms:W3CDTF">2026-08-24T22:01:12Z</dcterms:modified>
</cp:coreProperties>
</file>