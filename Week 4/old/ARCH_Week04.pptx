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E1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772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spc="300" kern="0" dirty="0">
                <a:solidFill>
                  <a:srgbClr val="F0C9D1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COMPUTER ARCHITECTURE  ·  RISC-V: FPGA TO SILICON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914400" y="251460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Week 4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5638648" y="3611880"/>
            <a:ext cx="914400" cy="0"/>
          </a:xfrm>
          <a:prstGeom prst="line">
            <a:avLst/>
          </a:prstGeom>
          <a:noFill/>
          <a:ln w="19050">
            <a:solidFill>
              <a:srgbClr val="F0C9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74904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6DDE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 Functional Unit from Scratch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544068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400" kern="0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DUNWOODY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594360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F0C9D1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COLLEGE OF TECHNOLOGY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Where we left off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5364328" cy="210312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5364328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7335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Sub-word memory works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2258568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lb / lh / lbu / lhu / sb / sh, verified across every offset and both halves.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78728" y="1417320"/>
            <a:ext cx="5364328" cy="210312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78728" y="1417320"/>
            <a:ext cx="5364328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0" name="Text 8"/>
          <p:cNvSpPr/>
          <p:nvPr/>
        </p:nvSpPr>
        <p:spPr>
          <a:xfrm>
            <a:off x="6553048" y="167335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warm-up was an ALU op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553048" y="2258568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popcount was one case inside the ALU — a new operation reusing the existing result path.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364328" cy="210312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794760"/>
            <a:ext cx="5364328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5079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This week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22960" y="4636008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Build a real functional unit: its own module, its own operands, its own result.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78728" y="3794760"/>
            <a:ext cx="5364328" cy="210312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78728" y="3794760"/>
            <a:ext cx="5364328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8" name="Text 16"/>
          <p:cNvSpPr/>
          <p:nvPr/>
        </p:nvSpPr>
        <p:spPr>
          <a:xfrm>
            <a:off x="6553048" y="405079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Why it matters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553048" y="4636008"/>
            <a:ext cx="4815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It's the structure Week 5's multicycle multiply will extend with a stall handshake.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ALU Op vs Functional Unit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435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Adding popcount meant one new line inside the ALU. A functional unit is a step up — a block of its own that the datapath feeds and selects.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4572000" cy="388620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4572000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756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TWO WAYS TO ADD HARDWARE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25877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An ALU op</a:t>
            </a:r>
            <a:pPr indent="0" marL="0">
              <a:buNone/>
            </a:pPr>
            <a:r>
              <a:rPr lang="en-US" sz="14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4672" y="2889504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 new case inside the ALU. Shares srcA/srcB and the ALU's result wire. Cheap, but limited.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04672" y="3703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 functional unit</a:t>
            </a:r>
            <a:pPr indent="0" marL="0">
              <a:buNone/>
            </a:pPr>
            <a:r>
              <a:rPr lang="en-US" sz="14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4672" y="400507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 separate module with its own operands and output, steered into the datapath by a control bit.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04672" y="491947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Same goal — new behavior — but a unit scales: it can be large, reused, or (next week) multicycle.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1874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WHAT A UNIT NEEDS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532120" y="237744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5" name="Text 13"/>
          <p:cNvSpPr/>
          <p:nvPr/>
        </p:nvSpPr>
        <p:spPr>
          <a:xfrm>
            <a:off x="553212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90488" y="2304288"/>
            <a:ext cx="54864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 module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the logic, written and tested on its own.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532120" y="321183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8" name="Text 16"/>
          <p:cNvSpPr/>
          <p:nvPr/>
        </p:nvSpPr>
        <p:spPr>
          <a:xfrm>
            <a:off x="5532120" y="32118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90488" y="3138678"/>
            <a:ext cx="54864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Operands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routed to the unit from the register file.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532120" y="404622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1" name="Text 19"/>
          <p:cNvSpPr/>
          <p:nvPr/>
        </p:nvSpPr>
        <p:spPr>
          <a:xfrm>
            <a:off x="5532120" y="40462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90488" y="3973068"/>
            <a:ext cx="54864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 select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a control bit that steers its result into writeback.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532120" y="488061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4" name="Text 22"/>
          <p:cNvSpPr/>
          <p:nvPr/>
        </p:nvSpPr>
        <p:spPr>
          <a:xfrm>
            <a:off x="5532120" y="488061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190488" y="4807458"/>
            <a:ext cx="54864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 reference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the golden model computes the same thing.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popcount was an operation; clz will be a unit. The difference is the whole lesson.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28" name="Text 26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Anatomy of a Functional Unit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435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Four parts, and the same four for any unit you ever add to the core.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67864" cy="338328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2567864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7" name="Shape 5"/>
          <p:cNvSpPr/>
          <p:nvPr/>
        </p:nvSpPr>
        <p:spPr>
          <a:xfrm>
            <a:off x="1549108" y="2331720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8" name="Text 6"/>
          <p:cNvSpPr/>
          <p:nvPr/>
        </p:nvSpPr>
        <p:spPr>
          <a:xfrm>
            <a:off x="1549108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2293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MODULE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3657600"/>
            <a:ext cx="21655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Self-contained Verilog: inputs, outputs, internal logic — testable alone.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90824" y="1965960"/>
            <a:ext cx="2567864" cy="338328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90824" y="1965960"/>
            <a:ext cx="2567864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3" name="Shape 11"/>
          <p:cNvSpPr/>
          <p:nvPr/>
        </p:nvSpPr>
        <p:spPr>
          <a:xfrm>
            <a:off x="4391292" y="2331720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4" name="Text 12"/>
          <p:cNvSpPr/>
          <p:nvPr/>
        </p:nvSpPr>
        <p:spPr>
          <a:xfrm>
            <a:off x="4391292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27984" y="3063240"/>
            <a:ext cx="2293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OPERANDS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91992" y="3657600"/>
            <a:ext cx="21655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Tap register values straight into the unit.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33008" y="1965960"/>
            <a:ext cx="2567864" cy="338328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33008" y="1965960"/>
            <a:ext cx="2567864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9" name="Shape 17"/>
          <p:cNvSpPr/>
          <p:nvPr/>
        </p:nvSpPr>
        <p:spPr>
          <a:xfrm>
            <a:off x="7233476" y="2331720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0" name="Text 18"/>
          <p:cNvSpPr/>
          <p:nvPr/>
        </p:nvSpPr>
        <p:spPr>
          <a:xfrm>
            <a:off x="7233476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70168" y="3063240"/>
            <a:ext cx="2293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SELECT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34176" y="3657600"/>
            <a:ext cx="21655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 decoder control bit muxes its result into writeback.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075191" y="1965960"/>
            <a:ext cx="2567864" cy="338328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075191" y="1965960"/>
            <a:ext cx="2567864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75659" y="2331720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6" name="Text 24"/>
          <p:cNvSpPr/>
          <p:nvPr/>
        </p:nvSpPr>
        <p:spPr>
          <a:xfrm>
            <a:off x="10075659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212351" y="3063240"/>
            <a:ext cx="2293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VERIFY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76359" y="3657600"/>
            <a:ext cx="21655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Lockstep checks it against an independent reference.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Module, operands, select, verify — learn the pattern once, reuse it for every unit.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31" name="Text 29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Count Leading Zeros</a:t>
            </a:r>
            <a:pPr indent="0" marL="0">
              <a:buNone/>
            </a:pPr>
            <a:r>
              <a:rPr lang="en-US" sz="31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 |    </a:t>
            </a:r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clz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435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Our unit: clz — count the zero bits above the most-significant 1. A real RISC-V Zbb instruction, and a clean from-scratch design.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4572000" cy="388620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4572000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756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WHAT clz DOES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25877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Find the top 1</a:t>
            </a:r>
            <a:pPr indent="0" marL="0">
              <a:buNone/>
            </a:pPr>
            <a:r>
              <a:rPr lang="en-US" sz="14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4672" y="2889504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Scan from bit 31 downward to the first set bit.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04672" y="3703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Count the zeros above</a:t>
            </a:r>
            <a:pPr indent="0" marL="0">
              <a:buNone/>
            </a:pPr>
            <a:r>
              <a:rPr lang="en-US" sz="14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4672" y="400507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If the highest 1 is at bit k, clz = 31 - k; and clz(0) = 32.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04672" y="491947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Used for normalization, priority, and fast log2 — small, but real.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1874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EXAMPLES</a:t>
            </a:r>
            <a:endParaRPr lang="en-US" sz="1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2120" y="2331720"/>
          <a:ext cx="51206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w Cen MT" pitchFamily="34" charset="0"/>
                          <a:ea typeface="Tw Cen MT" pitchFamily="34" charset="-122"/>
                          <a:cs typeface="Tw Cen MT" pitchFamily="34" charset="-120"/>
                        </a:rPr>
                        <a:t>value (rs1)</a:t>
                      </a:r>
                      <a:endParaRPr lang="en-US" sz="1400" dirty="0">
                        <a:latin typeface="Tw Cen MT" charset="0"/>
                        <a:ea typeface="Tw Cen MT" charset="0"/>
                        <a:cs typeface="Tw Cen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1B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w Cen MT" pitchFamily="34" charset="0"/>
                          <a:ea typeface="Tw Cen MT" pitchFamily="34" charset="-122"/>
                          <a:cs typeface="Tw Cen MT" pitchFamily="34" charset="-120"/>
                        </a:rPr>
                        <a:t>clz</a:t>
                      </a:r>
                      <a:endParaRPr lang="en-US" sz="1400" dirty="0">
                        <a:latin typeface="Tw Cen MT" charset="0"/>
                        <a:ea typeface="Tw Cen MT" charset="0"/>
                        <a:cs typeface="Tw Cen M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1B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0x00000001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0x00010000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0x000000FF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24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0x80000000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0x00000000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Five inputs, five answers — the directed test the golden model has to match.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7" name="Text 14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clz, Bit by Bit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435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clz of 0x00010000: fifteen leading zeros, then the first 1 at bit 16. The bits below it don't matter.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72211" y="2880360"/>
            <a:ext cx="315468" cy="640080"/>
          </a:xfrm>
          <a:prstGeom prst="rect">
            <a:avLst/>
          </a:prstGeom>
          <a:solidFill>
            <a:srgbClr val="F8E8EC"/>
          </a:solidFill>
          <a:ln w="6350">
            <a:solidFill>
              <a:srgbClr val="D8C3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2211" y="2880360"/>
            <a:ext cx="3154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1B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07796" y="2880360"/>
            <a:ext cx="315468" cy="640080"/>
          </a:xfrm>
          <a:prstGeom prst="rect">
            <a:avLst/>
          </a:prstGeom>
          <a:solidFill>
            <a:srgbClr val="F8E8EC"/>
          </a:solidFill>
          <a:ln w="6350">
            <a:solidFill>
              <a:srgbClr val="D8C3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7796" y="2880360"/>
            <a:ext cx="3154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1B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43380" y="2880360"/>
            <a:ext cx="315468" cy="640080"/>
          </a:xfrm>
          <a:prstGeom prst="rect">
            <a:avLst/>
          </a:prstGeom>
          <a:solidFill>
            <a:srgbClr val="F8E8EC"/>
          </a:solidFill>
          <a:ln w="6350">
            <a:solidFill>
              <a:srgbClr val="D8C3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43380" y="2880360"/>
            <a:ext cx="3154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1B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78965" y="2880360"/>
            <a:ext cx="315468" cy="640080"/>
          </a:xfrm>
          <a:prstGeom prst="rect">
            <a:avLst/>
          </a:prstGeom>
          <a:solidFill>
            <a:srgbClr val="F8E8EC"/>
          </a:solidFill>
          <a:ln w="6350">
            <a:solidFill>
              <a:srgbClr val="D8C3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78965" y="2880360"/>
            <a:ext cx="3154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1B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14550" y="2880360"/>
            <a:ext cx="315468" cy="640080"/>
          </a:xfrm>
          <a:prstGeom prst="rect">
            <a:avLst/>
          </a:prstGeom>
          <a:solidFill>
            <a:srgbClr val="F8E8EC"/>
          </a:solidFill>
          <a:ln w="6350">
            <a:solidFill>
              <a:srgbClr val="D8C3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14550" y="2880360"/>
            <a:ext cx="3154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1B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50135" y="2880360"/>
            <a:ext cx="315468" cy="640080"/>
          </a:xfrm>
          <a:prstGeom prst="rect">
            <a:avLst/>
          </a:prstGeom>
          <a:solidFill>
            <a:srgbClr val="F8E8EC"/>
          </a:solidFill>
          <a:ln w="6350">
            <a:solidFill>
              <a:srgbClr val="D8C3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50135" y="2880360"/>
            <a:ext cx="3154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1B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85720" y="2880360"/>
            <a:ext cx="315468" cy="640080"/>
          </a:xfrm>
          <a:prstGeom prst="rect">
            <a:avLst/>
          </a:prstGeom>
          <a:solidFill>
            <a:srgbClr val="F8E8EC"/>
          </a:solidFill>
          <a:ln w="6350">
            <a:solidFill>
              <a:srgbClr val="D8C3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5720" y="2880360"/>
            <a:ext cx="3154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1B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21304" y="2880360"/>
            <a:ext cx="315468" cy="640080"/>
          </a:xfrm>
          <a:prstGeom prst="rect">
            <a:avLst/>
          </a:prstGeom>
          <a:solidFill>
            <a:srgbClr val="F8E8EC"/>
          </a:solidFill>
          <a:ln w="6350">
            <a:solidFill>
              <a:srgbClr val="D8C3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21304" y="2880360"/>
            <a:ext cx="3154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1B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56889" y="2880360"/>
            <a:ext cx="315468" cy="640080"/>
          </a:xfrm>
          <a:prstGeom prst="rect">
            <a:avLst/>
          </a:prstGeom>
          <a:solidFill>
            <a:srgbClr val="F8E8EC"/>
          </a:solidFill>
          <a:ln w="6350">
            <a:solidFill>
              <a:srgbClr val="D8C3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56889" y="2880360"/>
            <a:ext cx="3154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1B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792474" y="2880360"/>
            <a:ext cx="315468" cy="640080"/>
          </a:xfrm>
          <a:prstGeom prst="rect">
            <a:avLst/>
          </a:prstGeom>
          <a:solidFill>
            <a:srgbClr val="F8E8EC"/>
          </a:solidFill>
          <a:ln w="6350">
            <a:solidFill>
              <a:srgbClr val="D8C3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92474" y="2880360"/>
            <a:ext cx="3154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1B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28059" y="2880360"/>
            <a:ext cx="315468" cy="640080"/>
          </a:xfrm>
          <a:prstGeom prst="rect">
            <a:avLst/>
          </a:prstGeom>
          <a:solidFill>
            <a:srgbClr val="F8E8EC"/>
          </a:solidFill>
          <a:ln w="6350">
            <a:solidFill>
              <a:srgbClr val="D8C3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28059" y="2880360"/>
            <a:ext cx="3154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1B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463644" y="2880360"/>
            <a:ext cx="315468" cy="640080"/>
          </a:xfrm>
          <a:prstGeom prst="rect">
            <a:avLst/>
          </a:prstGeom>
          <a:solidFill>
            <a:srgbClr val="F8E8EC"/>
          </a:solidFill>
          <a:ln w="6350">
            <a:solidFill>
              <a:srgbClr val="D8C3C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63644" y="2880360"/>
            <a:ext cx="3154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1B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99228" y="2880360"/>
            <a:ext cx="315468" cy="640080"/>
          </a:xfrm>
          <a:prstGeom prst="rect">
            <a:avLst/>
          </a:prstGeom>
          <a:solidFill>
            <a:srgbClr val="F8E8EC"/>
          </a:solidFill>
          <a:ln w="6350">
            <a:solidFill>
              <a:srgbClr val="D8C3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99228" y="2880360"/>
            <a:ext cx="3154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1B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134813" y="2880360"/>
            <a:ext cx="315468" cy="640080"/>
          </a:xfrm>
          <a:prstGeom prst="rect">
            <a:avLst/>
          </a:prstGeom>
          <a:solidFill>
            <a:srgbClr val="F8E8EC"/>
          </a:solidFill>
          <a:ln w="6350">
            <a:solidFill>
              <a:srgbClr val="D8C3C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34813" y="2880360"/>
            <a:ext cx="3154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1B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70398" y="2880360"/>
            <a:ext cx="315468" cy="640080"/>
          </a:xfrm>
          <a:prstGeom prst="rect">
            <a:avLst/>
          </a:prstGeom>
          <a:solidFill>
            <a:srgbClr val="F8E8EC"/>
          </a:solidFill>
          <a:ln w="6350">
            <a:solidFill>
              <a:srgbClr val="D8C3C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70398" y="2880360"/>
            <a:ext cx="3154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1B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805983" y="2880360"/>
            <a:ext cx="315468" cy="640080"/>
          </a:xfrm>
          <a:prstGeom prst="rect">
            <a:avLst/>
          </a:prstGeom>
          <a:solidFill>
            <a:srgbClr val="9E1B32"/>
          </a:solidFill>
          <a:ln w="6350">
            <a:solidFill>
              <a:srgbClr val="D8C3C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05983" y="2880360"/>
            <a:ext cx="3154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41568" y="2880360"/>
            <a:ext cx="315468" cy="640080"/>
          </a:xfrm>
          <a:prstGeom prst="rect">
            <a:avLst/>
          </a:prstGeom>
          <a:solidFill>
            <a:srgbClr val="F4F4F4"/>
          </a:solidFill>
          <a:ln w="6350">
            <a:solidFill>
              <a:srgbClr val="D8C3C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41568" y="2880360"/>
            <a:ext cx="3154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77152" y="2880360"/>
            <a:ext cx="315468" cy="640080"/>
          </a:xfrm>
          <a:prstGeom prst="rect">
            <a:avLst/>
          </a:prstGeom>
          <a:solidFill>
            <a:srgbClr val="F4F4F4"/>
          </a:solidFill>
          <a:ln w="6350">
            <a:solidFill>
              <a:srgbClr val="D8C3C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77152" y="2880360"/>
            <a:ext cx="3154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812737" y="2880360"/>
            <a:ext cx="315468" cy="640080"/>
          </a:xfrm>
          <a:prstGeom prst="rect">
            <a:avLst/>
          </a:prstGeom>
          <a:solidFill>
            <a:srgbClr val="F4F4F4"/>
          </a:solidFill>
          <a:ln w="6350">
            <a:solidFill>
              <a:srgbClr val="D8C3C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12737" y="2880360"/>
            <a:ext cx="3154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148322" y="2880360"/>
            <a:ext cx="315468" cy="640080"/>
          </a:xfrm>
          <a:prstGeom prst="rect">
            <a:avLst/>
          </a:prstGeom>
          <a:solidFill>
            <a:srgbClr val="F4F4F4"/>
          </a:solidFill>
          <a:ln w="6350">
            <a:solidFill>
              <a:srgbClr val="D8C3C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48322" y="2880360"/>
            <a:ext cx="3154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483907" y="2880360"/>
            <a:ext cx="315468" cy="640080"/>
          </a:xfrm>
          <a:prstGeom prst="rect">
            <a:avLst/>
          </a:prstGeom>
          <a:solidFill>
            <a:srgbClr val="F4F4F4"/>
          </a:solidFill>
          <a:ln w="6350">
            <a:solidFill>
              <a:srgbClr val="D8C3C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83907" y="2880360"/>
            <a:ext cx="3154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819492" y="2880360"/>
            <a:ext cx="315468" cy="640080"/>
          </a:xfrm>
          <a:prstGeom prst="rect">
            <a:avLst/>
          </a:prstGeom>
          <a:solidFill>
            <a:srgbClr val="F4F4F4"/>
          </a:solidFill>
          <a:ln w="6350">
            <a:solidFill>
              <a:srgbClr val="D8C3C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19492" y="2880360"/>
            <a:ext cx="3154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155076" y="2880360"/>
            <a:ext cx="315468" cy="640080"/>
          </a:xfrm>
          <a:prstGeom prst="rect">
            <a:avLst/>
          </a:prstGeom>
          <a:solidFill>
            <a:srgbClr val="F4F4F4"/>
          </a:solidFill>
          <a:ln w="6350">
            <a:solidFill>
              <a:srgbClr val="D8C3C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55076" y="2880360"/>
            <a:ext cx="3154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490661" y="2880360"/>
            <a:ext cx="315468" cy="640080"/>
          </a:xfrm>
          <a:prstGeom prst="rect">
            <a:avLst/>
          </a:prstGeom>
          <a:solidFill>
            <a:srgbClr val="F4F4F4"/>
          </a:solidFill>
          <a:ln w="6350">
            <a:solidFill>
              <a:srgbClr val="D8C3C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90661" y="2880360"/>
            <a:ext cx="3154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826246" y="2880360"/>
            <a:ext cx="315468" cy="640080"/>
          </a:xfrm>
          <a:prstGeom prst="rect">
            <a:avLst/>
          </a:prstGeom>
          <a:solidFill>
            <a:srgbClr val="F4F4F4"/>
          </a:solidFill>
          <a:ln w="6350">
            <a:solidFill>
              <a:srgbClr val="D8C3C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826246" y="2880360"/>
            <a:ext cx="3154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161831" y="2880360"/>
            <a:ext cx="315468" cy="640080"/>
          </a:xfrm>
          <a:prstGeom prst="rect">
            <a:avLst/>
          </a:prstGeom>
          <a:solidFill>
            <a:srgbClr val="F4F4F4"/>
          </a:solidFill>
          <a:ln w="6350">
            <a:solidFill>
              <a:srgbClr val="D8C3C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161831" y="2880360"/>
            <a:ext cx="3154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9497416" y="2880360"/>
            <a:ext cx="315468" cy="640080"/>
          </a:xfrm>
          <a:prstGeom prst="rect">
            <a:avLst/>
          </a:prstGeom>
          <a:solidFill>
            <a:srgbClr val="F4F4F4"/>
          </a:solidFill>
          <a:ln w="6350">
            <a:solidFill>
              <a:srgbClr val="D8C3C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497416" y="2880360"/>
            <a:ext cx="3154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9833000" y="2880360"/>
            <a:ext cx="315468" cy="640080"/>
          </a:xfrm>
          <a:prstGeom prst="rect">
            <a:avLst/>
          </a:prstGeom>
          <a:solidFill>
            <a:srgbClr val="F4F4F4"/>
          </a:solidFill>
          <a:ln w="6350">
            <a:solidFill>
              <a:srgbClr val="D8C3C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833000" y="2880360"/>
            <a:ext cx="3154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10168585" y="2880360"/>
            <a:ext cx="315468" cy="640080"/>
          </a:xfrm>
          <a:prstGeom prst="rect">
            <a:avLst/>
          </a:prstGeom>
          <a:solidFill>
            <a:srgbClr val="F4F4F4"/>
          </a:solidFill>
          <a:ln w="6350">
            <a:solidFill>
              <a:srgbClr val="D8C3C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168585" y="2880360"/>
            <a:ext cx="3154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0504170" y="2880360"/>
            <a:ext cx="315468" cy="640080"/>
          </a:xfrm>
          <a:prstGeom prst="rect">
            <a:avLst/>
          </a:prstGeom>
          <a:solidFill>
            <a:srgbClr val="F4F4F4"/>
          </a:solidFill>
          <a:ln w="6350">
            <a:solidFill>
              <a:srgbClr val="D8C3C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504170" y="2880360"/>
            <a:ext cx="3154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10839755" y="2880360"/>
            <a:ext cx="315468" cy="640080"/>
          </a:xfrm>
          <a:prstGeom prst="rect">
            <a:avLst/>
          </a:prstGeom>
          <a:solidFill>
            <a:srgbClr val="F4F4F4"/>
          </a:solidFill>
          <a:ln w="6350">
            <a:solidFill>
              <a:srgbClr val="D8C3C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839755" y="2880360"/>
            <a:ext cx="3154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11175340" y="2880360"/>
            <a:ext cx="315468" cy="640080"/>
          </a:xfrm>
          <a:prstGeom prst="rect">
            <a:avLst/>
          </a:prstGeom>
          <a:solidFill>
            <a:srgbClr val="F4F4F4"/>
          </a:solidFill>
          <a:ln w="6350">
            <a:solidFill>
              <a:srgbClr val="D8C3C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1175340" y="2880360"/>
            <a:ext cx="3154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772211" y="2734056"/>
            <a:ext cx="5349240" cy="0"/>
          </a:xfrm>
          <a:prstGeom prst="line">
            <a:avLst/>
          </a:prstGeom>
          <a:noFill/>
          <a:ln w="19050">
            <a:solidFill>
              <a:srgbClr val="9E1B3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72211" y="23774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15 leading zeros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726491" y="3593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 31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10596524" y="359359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 0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4983023" y="3593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1 at bit 16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548640" y="4343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clz = 31 - 16 = </a:t>
            </a:r>
            <a:pPr algn="ctr" indent="0" marL="0">
              <a:buNone/>
            </a:pPr>
            <a:r>
              <a:rPr lang="en-US" sz="1800" b="1" dirty="0">
                <a:solidFill>
                  <a:srgbClr val="9E1B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800" dirty="0"/>
          </a:p>
        </p:txBody>
      </p:sp>
      <p:sp>
        <p:nvSpPr>
          <p:cNvPr id="75" name="Text 73"/>
          <p:cNvSpPr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The unit reports the position of the highest set bit — a priority encoder, in one cycle.</a:t>
            </a:r>
            <a:endParaRPr lang="en-US" sz="1500" dirty="0"/>
          </a:p>
        </p:txBody>
      </p:sp>
      <p:sp>
        <p:nvSpPr>
          <p:cNvPr id="76" name="Shape 74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77" name="Text 75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78" name="Text 76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Designing the Unit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435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The hardware is a priority scan: walk from the MSB and stop at the first 1.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4572000" cy="388620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4572000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756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IDEA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672" y="25877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Default to 32</a:t>
            </a:r>
            <a:pPr indent="0" marL="0">
              <a:buNone/>
            </a:pPr>
            <a:r>
              <a:rPr lang="en-US" sz="14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4672" y="2889504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If no bit is set at all, the answer is 32.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04672" y="3703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Stop at the first 1</a:t>
            </a:r>
            <a:pPr indent="0" marL="0">
              <a:buNone/>
            </a:pPr>
            <a:r>
              <a:rPr lang="en-US" sz="14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4672" y="400507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Scanning from bit 31 down, the first set bit at index k gives 31 - k.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04672" y="491947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 priority encoder: the highest set bit wins, everything below it is ignored.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1874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IN VERILOG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532120" y="237744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5" name="Text 13"/>
          <p:cNvSpPr/>
          <p:nvPr/>
        </p:nvSpPr>
        <p:spPr>
          <a:xfrm>
            <a:off x="553212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90488" y="2304288"/>
            <a:ext cx="54864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Start at 32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assume all zeros.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532120" y="321183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8" name="Text 16"/>
          <p:cNvSpPr/>
          <p:nvPr/>
        </p:nvSpPr>
        <p:spPr>
          <a:xfrm>
            <a:off x="5532120" y="32118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90488" y="3138678"/>
            <a:ext cx="54864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Scan MSB to LSB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loop i from 31 down to 0.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532120" y="404622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1" name="Text 19"/>
          <p:cNvSpPr/>
          <p:nvPr/>
        </p:nvSpPr>
        <p:spPr>
          <a:xfrm>
            <a:off x="5532120" y="40462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90488" y="3973068"/>
            <a:ext cx="54864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First hit wins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on the first set bit, record 31 - i and lock it in.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532120" y="488061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4" name="Text 22"/>
          <p:cNvSpPr/>
          <p:nvPr/>
        </p:nvSpPr>
        <p:spPr>
          <a:xfrm>
            <a:off x="5532120" y="488061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190488" y="4807458"/>
            <a:ext cx="548640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Combinational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it all resolves within one cycle.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No clock, no state — a pure function of the input, like the ALU it sits beside.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28" name="Text 26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Wiring It In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435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The unit lives beside the ALU. Integration is three small touches, plus the module itself.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67864" cy="338328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2567864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7" name="Shape 5"/>
          <p:cNvSpPr/>
          <p:nvPr/>
        </p:nvSpPr>
        <p:spPr>
          <a:xfrm>
            <a:off x="1549108" y="2331720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8" name="Text 6"/>
          <p:cNvSpPr/>
          <p:nvPr/>
        </p:nvSpPr>
        <p:spPr>
          <a:xfrm>
            <a:off x="1549108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2293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OPERAND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3657600"/>
            <a:ext cx="21655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rd1 (the rs1 value) taps straight into the unit.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90824" y="1965960"/>
            <a:ext cx="2567864" cy="338328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90824" y="1965960"/>
            <a:ext cx="2567864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3" name="Shape 11"/>
          <p:cNvSpPr/>
          <p:nvPr/>
        </p:nvSpPr>
        <p:spPr>
          <a:xfrm>
            <a:off x="4391292" y="2331720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4" name="Text 12"/>
          <p:cNvSpPr/>
          <p:nvPr/>
        </p:nvSpPr>
        <p:spPr>
          <a:xfrm>
            <a:off x="4391292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27984" y="3063240"/>
            <a:ext cx="2293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DECODE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91992" y="3657600"/>
            <a:ext cx="21655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custom-0 sets a new control bit, fusel.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33008" y="1965960"/>
            <a:ext cx="2567864" cy="338328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33008" y="1965960"/>
            <a:ext cx="2567864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9" name="Shape 17"/>
          <p:cNvSpPr/>
          <p:nvPr/>
        </p:nvSpPr>
        <p:spPr>
          <a:xfrm>
            <a:off x="7233476" y="2331720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0" name="Text 18"/>
          <p:cNvSpPr/>
          <p:nvPr/>
        </p:nvSpPr>
        <p:spPr>
          <a:xfrm>
            <a:off x="7233476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70168" y="3063240"/>
            <a:ext cx="2293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SELECT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34176" y="3657600"/>
            <a:ext cx="21655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fusel muxes the unit's result into the ALU-result path.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075191" y="1965960"/>
            <a:ext cx="2567864" cy="338328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075191" y="1965960"/>
            <a:ext cx="2567864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75659" y="2331720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6" name="Text 24"/>
          <p:cNvSpPr/>
          <p:nvPr/>
        </p:nvSpPr>
        <p:spPr>
          <a:xfrm>
            <a:off x="10075659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212351" y="3063240"/>
            <a:ext cx="2293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NO WIDENING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76359" y="3657600"/>
            <a:ext cx="21655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reuses resultsrc = 0; the writeback mux is untouched.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One new control bit and one mux — the unit slots into the writeback path you already have.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31" name="Text 29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606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Code Along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548640" y="3493008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58444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 module, then three wires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RTL</a:t>
            </a:r>
            <a:pPr indent="0" marL="0">
              <a:buNone/>
            </a:pPr>
            <a:r>
              <a:rPr lang="en-US" sz="31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 |    </a:t>
            </a:r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clz Unit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435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 standalone module: scan from the top, stop at the first set bit, default to 32.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07008" y="189280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Ports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a 32-bit x in, a 6-bit count out (0..32).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86893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689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07008" y="279577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Default 32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covers the all-zeros input.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77190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719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07008" y="369874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Priority scan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the first set bit from the top wins.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67487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748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07008" y="460171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Lock with found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later bits can't overwrite the answer.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2292401" cy="384048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775704" y="2103120"/>
            <a:ext cx="109728" cy="109728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19" name="Text 17"/>
          <p:cNvSpPr/>
          <p:nvPr/>
        </p:nvSpPr>
        <p:spPr>
          <a:xfrm>
            <a:off x="6958584" y="1965960"/>
            <a:ext cx="192664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rv32i.v  (clz32)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29400" y="2350008"/>
            <a:ext cx="4983480" cy="23591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20840" y="2423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23760" y="24231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clz32(input [31:0] x,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720840" y="26974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23760" y="26974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 reg [5:0] cnt);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720840" y="2971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23760" y="29718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cnt = 6'd32; found = 0;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720840" y="32461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23760" y="3246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(i=31; i&gt;=0; i=i-1)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720840" y="35204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23760" y="3520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(!found &amp;&amp; x[i]) begin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720840" y="37947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23760" y="37947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cnt = 31 - i;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720840" y="4069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23760" y="4069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found = 1; end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720840" y="43434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223760" y="43434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endmodule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629400" y="4818888"/>
            <a:ext cx="4983480" cy="292608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8" name="Text 36"/>
          <p:cNvSpPr/>
          <p:nvPr/>
        </p:nvSpPr>
        <p:spPr>
          <a:xfrm>
            <a:off x="6757416" y="481888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IDEA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629400" y="5111496"/>
            <a:ext cx="498348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0" name="Text 38"/>
          <p:cNvSpPr/>
          <p:nvPr/>
        </p:nvSpPr>
        <p:spPr>
          <a:xfrm>
            <a:off x="6793992" y="52029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E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highest set bit -&gt; 31 - index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It's a function of x alone — testable on its own, before it ever touches the core.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3" name="Text 41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RTL</a:t>
            </a:r>
            <a:pPr indent="0" marL="0">
              <a:buNone/>
            </a:pPr>
            <a:r>
              <a:rPr lang="en-US" sz="31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 |    </a:t>
            </a:r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Wiring It In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435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Tap rd1 into the unit, then let one decoder bit select its result into writeback.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07008" y="189280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Decode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custom-0 sets fusel = 1 and regwrite = 1.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86893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689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07008" y="279577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Instantiate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clz32 reads rd1 directly.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77190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719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07008" y="369874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Select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fusel ? clz result : ALU result.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67487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748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07008" y="460171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Writeback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feeds the existing resultsrc = 0 path.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29400" y="1965960"/>
            <a:ext cx="2292401" cy="384048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775704" y="2103120"/>
            <a:ext cx="109728" cy="109728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19" name="Text 17"/>
          <p:cNvSpPr/>
          <p:nvPr/>
        </p:nvSpPr>
        <p:spPr>
          <a:xfrm>
            <a:off x="6958584" y="1965960"/>
            <a:ext cx="192664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rv32i.v  wiring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29400" y="2350008"/>
            <a:ext cx="4983480" cy="23591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20840" y="24231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23760" y="24231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main_decoder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720840" y="26974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23760" y="26974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7'b0001011: begin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720840" y="29718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23760" y="29718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regwrite=1; fusel=1; end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720840" y="32461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23760" y="3246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datapath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720840" y="35204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23760" y="3520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clz32 CLZ (.x(rd1),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720840" y="37947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23760" y="37947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.cnt(clz_count));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720840" y="4069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23760" y="4069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 [31:0] alumux = fusel ?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720840" y="43434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223760" y="43434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{26'd0,clz_count} : aluresult;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629400" y="4818888"/>
            <a:ext cx="4983480" cy="292608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8" name="Text 36"/>
          <p:cNvSpPr/>
          <p:nvPr/>
        </p:nvSpPr>
        <p:spPr>
          <a:xfrm>
            <a:off x="6757416" y="481888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ASSEMBLED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629400" y="5111496"/>
            <a:ext cx="498348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0" name="Text 38"/>
          <p:cNvSpPr/>
          <p:nvPr/>
        </p:nvSpPr>
        <p:spPr>
          <a:xfrm>
            <a:off x="6793992" y="52029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E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clz x2, x1  -&gt;  0x0000910b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fusel is the whole integration: it picks the unit over the ALU on the shared writeback path.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3" name="Text 41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Model + Assembler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435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Teach the golden model the same answer and the assembler the mnemonic — then lockstep covers it.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07008" y="189280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Model it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32 - x.bit_length() gives 32 for zero, free.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86893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689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07008" y="279577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Add the mnemonic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clz rd, rs1 in the assembler.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77190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719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07008" y="369874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Custom-0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opcode 0x0B, funct3 001.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67487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748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07008" y="460171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Nothing else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the harness already compares the writeback.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29400" y="1920240"/>
            <a:ext cx="2292401" cy="384048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775704" y="2057400"/>
            <a:ext cx="109728" cy="109728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19" name="Text 17"/>
          <p:cNvSpPr/>
          <p:nvPr/>
        </p:nvSpPr>
        <p:spPr>
          <a:xfrm>
            <a:off x="6958584" y="1920240"/>
            <a:ext cx="192664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rv32i_iss.py  +  asm.py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29400" y="2304288"/>
            <a:ext cx="4983480" cy="20848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20840" y="23774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23760" y="2377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golden model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720840" y="26517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23760" y="26517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op == 0x0B: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720840" y="2926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23760" y="2926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wb(32 - a.bit_length())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720840" y="32004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23760" y="32004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assembler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720840" y="34747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23760" y="34747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op == "clz": out.append(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720840" y="37490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23760" y="37490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enc_i(reg(args[0]), reg(args[1]),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720840" y="4023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23760" y="40233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0, 0x1, op=0x0B))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629400" y="4498848"/>
            <a:ext cx="4983480" cy="292608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6" name="Text 34"/>
          <p:cNvSpPr/>
          <p:nvPr/>
        </p:nvSpPr>
        <p:spPr>
          <a:xfrm>
            <a:off x="6757416" y="449884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TERMINAL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629400" y="4791456"/>
            <a:ext cx="498348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8" name="Text 36"/>
          <p:cNvSpPr/>
          <p:nvPr/>
        </p:nvSpPr>
        <p:spPr>
          <a:xfrm>
            <a:off x="6793992" y="488289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E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+ assembler in step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32 - x.bit_length() is the oracle; lockstep enforces the hardware agrees with it.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1" name="Text 39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Run Lockstep</a:t>
            </a:r>
            <a:pPr indent="0" marL="0">
              <a:buNone/>
            </a:pPr>
            <a:r>
              <a:rPr lang="en-US" sz="31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 |    </a:t>
            </a:r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Edges and Extremes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435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Directed inputs — one, the extremes, and zero — each checked against the model.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07008" y="189280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Pick edges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1, 0x80000000, 0x10000, 255, 0, 16.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86893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6893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07008" y="279577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Assemble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make prog builds the hex image.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77190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719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07008" y="369874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Run lockstep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make sim steps the core and model together.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67487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748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07008" y="4601718"/>
            <a:ext cx="5212080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Read PASS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— 15 instructions, all matched.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29400" y="1920240"/>
            <a:ext cx="2292401" cy="384048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8" name="Shape 16"/>
          <p:cNvSpPr/>
          <p:nvPr/>
        </p:nvSpPr>
        <p:spPr>
          <a:xfrm>
            <a:off x="6775704" y="2057400"/>
            <a:ext cx="109728" cy="109728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19" name="Text 17"/>
          <p:cNvSpPr/>
          <p:nvPr/>
        </p:nvSpPr>
        <p:spPr>
          <a:xfrm>
            <a:off x="6958584" y="1920240"/>
            <a:ext cx="192664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clz_test.s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29400" y="2304288"/>
            <a:ext cx="4983480" cy="18105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20840" y="23774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23760" y="2377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clz x2,  x1   # clz(1) = 31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720840" y="26517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23760" y="26517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clz x4,  x3   # 0x80000000 = 0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720840" y="2926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23760" y="2926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clz x6,  x5   # 0x00010000 = 15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720840" y="32004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23760" y="32004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clz x8,  x7   # 255 = 24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720840" y="34747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23760" y="34747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clz x12, x9   # 0 = 32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720840" y="37490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23760" y="37490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clz x14, x13  # 16 = 27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629400" y="4224528"/>
            <a:ext cx="4983480" cy="292608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34" name="Text 32"/>
          <p:cNvSpPr/>
          <p:nvPr/>
        </p:nvSpPr>
        <p:spPr>
          <a:xfrm>
            <a:off x="6757416" y="422452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TERMINAL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629400" y="4517136"/>
            <a:ext cx="4983480" cy="106070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6" name="Text 34"/>
          <p:cNvSpPr/>
          <p:nvPr/>
        </p:nvSpPr>
        <p:spPr>
          <a:xfrm>
            <a:off x="6793992" y="46085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E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prog &amp;&amp; make sim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793992" y="48646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E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lockstep OK: 15 matched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793992" y="5120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CEC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 test_lockstep   PASS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Validated: 15 instructions, every clz boundary, RTL and model in lockstep — PASS.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41" name="Text 39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Module → Route → Select → Verify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94415" cy="0"/>
          </a:xfrm>
          <a:prstGeom prst="line">
            <a:avLst/>
          </a:prstGeom>
          <a:noFill/>
          <a:ln w="22225">
            <a:solidFill>
              <a:srgbClr val="9E1B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4358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 functional unit added end-to-end, by the same four steps you'll reuse for every unit.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67864" cy="338328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2567864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7" name="Shape 5"/>
          <p:cNvSpPr/>
          <p:nvPr/>
        </p:nvSpPr>
        <p:spPr>
          <a:xfrm>
            <a:off x="1549108" y="2331720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8" name="Text 6"/>
          <p:cNvSpPr/>
          <p:nvPr/>
        </p:nvSpPr>
        <p:spPr>
          <a:xfrm>
            <a:off x="1549108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2293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MODULE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3657600"/>
            <a:ext cx="21655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clz32 — a from-scratch priority encoder, testable on its own.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90824" y="1965960"/>
            <a:ext cx="2567864" cy="338328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90824" y="1965960"/>
            <a:ext cx="2567864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3" name="Shape 11"/>
          <p:cNvSpPr/>
          <p:nvPr/>
        </p:nvSpPr>
        <p:spPr>
          <a:xfrm>
            <a:off x="4391292" y="2331720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14" name="Text 12"/>
          <p:cNvSpPr/>
          <p:nvPr/>
        </p:nvSpPr>
        <p:spPr>
          <a:xfrm>
            <a:off x="4391292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27984" y="3063240"/>
            <a:ext cx="2293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ROUTE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91992" y="3657600"/>
            <a:ext cx="21655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rd1 taps straight into the unit's input.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33008" y="1965960"/>
            <a:ext cx="2567864" cy="338328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33008" y="1965960"/>
            <a:ext cx="2567864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19" name="Shape 17"/>
          <p:cNvSpPr/>
          <p:nvPr/>
        </p:nvSpPr>
        <p:spPr>
          <a:xfrm>
            <a:off x="7233476" y="2331720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0" name="Text 18"/>
          <p:cNvSpPr/>
          <p:nvPr/>
        </p:nvSpPr>
        <p:spPr>
          <a:xfrm>
            <a:off x="7233476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70168" y="3063240"/>
            <a:ext cx="2293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SELECT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34176" y="3657600"/>
            <a:ext cx="21655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fusel muxes its result onto the writeback path.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075191" y="1965960"/>
            <a:ext cx="2567864" cy="3383280"/>
          </a:xfrm>
          <a:prstGeom prst="rect">
            <a:avLst/>
          </a:prstGeom>
          <a:solidFill>
            <a:srgbClr val="F8E8E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075191" y="1965960"/>
            <a:ext cx="2567864" cy="73152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75659" y="2331720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</p:sp>
      <p:sp>
        <p:nvSpPr>
          <p:cNvPr id="26" name="Text 24"/>
          <p:cNvSpPr/>
          <p:nvPr/>
        </p:nvSpPr>
        <p:spPr>
          <a:xfrm>
            <a:off x="10075659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212351" y="3063240"/>
            <a:ext cx="2293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VERIFY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76359" y="3657600"/>
            <a:ext cx="21655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lockstep against 32 - x.bit_length().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Next: the multicycle multiply — the same separate-unit pattern, but it can't finish in one cycle, so it needs a done/stall handshake. That's where single-cycle finally breaks.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solidFill>
            <a:srgbClr val="9E1B32"/>
          </a:solidFill>
          <a:ln/>
        </p:spPr>
      </p:sp>
      <p:sp>
        <p:nvSpPr>
          <p:cNvPr id="31" name="Text 29"/>
          <p:cNvSpPr/>
          <p:nvPr/>
        </p:nvSpPr>
        <p:spPr>
          <a:xfrm>
            <a:off x="0" y="6355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1368735" y="6446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2026-06-16T12:39:26Z</dcterms:created>
  <dcterms:modified xsi:type="dcterms:W3CDTF">2026-06-16T12:39:26Z</dcterms:modified>
</cp:coreProperties>
</file>