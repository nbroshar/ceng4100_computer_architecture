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69ED7F-3D11-49DC-81D5-B60ED310F048}" v="1" dt="2026-08-24T22:02:09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Broshar" userId="c2ff11c0-5f1c-48ed-a930-17e04bb83249" providerId="ADAL" clId="{55F01509-CF37-41EF-8C5E-863A5FFDA0AA}"/>
    <pc:docChg chg="modSld">
      <pc:chgData name="Natalie Broshar" userId="c2ff11c0-5f1c-48ed-a930-17e04bb83249" providerId="ADAL" clId="{55F01509-CF37-41EF-8C5E-863A5FFDA0AA}" dt="2026-08-24T22:02:13.010" v="1" actId="20577"/>
      <pc:docMkLst>
        <pc:docMk/>
      </pc:docMkLst>
      <pc:sldChg chg="modSp mod">
        <pc:chgData name="Natalie Broshar" userId="c2ff11c0-5f1c-48ed-a930-17e04bb83249" providerId="ADAL" clId="{55F01509-CF37-41EF-8C5E-863A5FFDA0AA}" dt="2026-08-24T22:02:13.010" v="1" actId="20577"/>
        <pc:sldMkLst>
          <pc:docMk/>
          <pc:sldMk cId="0" sldId="256"/>
        </pc:sldMkLst>
        <pc:spChg chg="mod">
          <ac:chgData name="Natalie Broshar" userId="c2ff11c0-5f1c-48ed-a930-17e04bb83249" providerId="ADAL" clId="{55F01509-CF37-41EF-8C5E-863A5FFDA0AA}" dt="2026-08-24T22:02:13.010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52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E7B8C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CENG 4100 · COMPUTER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6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592928" y="3611880"/>
            <a:ext cx="1005840" cy="27432"/>
          </a:xfrm>
          <a:prstGeom prst="rect">
            <a:avLst/>
          </a:prstGeom>
          <a:solidFill>
            <a:srgbClr val="E7B8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Arithmetic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B8C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2 — Arithmetic · Milestone M2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Teach It to Compute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core can move data and branch — now make it do real math. You'll grow the ALU and drop in a multiply/divide unit, then meet floating point.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Concept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Number representation, ALU design, fast adders, and the RV32M multiply/divide algorithms; FP overview.</a:t>
            </a: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Read: COD 3.1–3.6, 3.9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4314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Lab · M2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5482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Extend the ALU (add/sub, logic, shifts, compares) and add an RV32M mul/div unit. Verify each new op on the board.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21701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Deliverable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2869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 ALU that passes the arithmetic test suite + mul/div working. Reading response #6. (Midterm is next week.)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Note: the midterm in Week 7 covers Weeks 1–6. This week's math is fair game.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Are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Phase 2 Begins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1 is done — you added instructions two ways. Phase 2 is about the datapath's math engine: the ALU and the multiplier.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DONE · P1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Instruction added in microcode and in hardware; M1 complete.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Extend the ALU; add RV32M multiply and divide; FP overview.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NEXT · W7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Midterm (covers Weeks 1–6), then: why single-cycle is slow.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THEN · P3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Pipeline the whole core into five stages.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Milestone M2 = a core that can add, shift, compare, multiply, and divide — and prove it on hardware.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Representation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Bits Into Numbers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Before you build arithmetic, agree on what the bits mean. Two's complement is why one adder handles both add and subtract.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Unsigned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0 … 2ⁿ−1. Plain binary place value. Used for addresses and counts.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9996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9996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113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Two's Comp.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0113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Signed: the top bit has weight −2ⁿ⁻¹. Negation = invert then add 1.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300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3300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3417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Sub = Add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3417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− b = a + (~b + 1). One adder does both — just invert b and set carry-in.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66047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66047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67215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Overflow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67215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Signed overflow when the carry into and out of the sign bit differ. Flag it.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Two's complement is the reason your ALU needs only an adder, not a separate subtractor.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Building the ALU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One Block, Many Ops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ALU is a mux over parallel operators: all of them compute, and alu_op selects which result comes 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6035040" cy="28940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63500" dist="25400" dir="5400000" algn="bl" rotWithShape="0">
              <a:srgbClr val="BFBFB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6035040" cy="310896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00710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alu.v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9514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295144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@(*) 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(alu_op)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1002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510028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ADD: y = a + b;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724912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SUB: y = a - b;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93979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939796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AND: y = a &amp; b;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54680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: y = a | b;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95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369564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XOR: y = a ^ b;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5844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584448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SLL: y = a &lt;&lt; b[4:0];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7993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799332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SRL: y = a &gt;&gt; b[4:0];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01421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014216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SLT: y = ($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&lt;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422910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4229100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$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(b));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44398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4443984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1892808"/>
            <a:ext cx="4764024" cy="292608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58000" y="1892808"/>
            <a:ext cx="4764024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59168" y="2093976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 NOTES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77456" y="2642616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arm computes in parallel; the case is a mux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Shift amount is only the low 5 bits (0–31)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SLT needs $signed for the comparison to be correct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Keep the ALU purely combinational — it's on the critical path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operations by adding case arms. But every arm you add can lengthen the critical path — watch Fmax.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Adders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Ripple vs Look-Ahead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adder often sets the ALU's speed. A ripple-carry adder is tiny but slow; carry-lookahead trades area for a shorter carry path.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346040" cy="306324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534604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494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RIPPLE-CARRY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49254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Carry chains through all n bits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Delay grows linearly, O(n)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Smallest area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Fine for narrow or non-critical adds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938528"/>
            <a:ext cx="5346040" cy="306324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8728" y="1938528"/>
            <a:ext cx="534604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9896" y="2139696"/>
            <a:ext cx="494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CARRY-LOOKAHEAD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8184" y="2779776"/>
            <a:ext cx="49254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Computes carries in parallel with generate/propagate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Delay ~O(log n)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More logic (LUTs)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Use when the adder limits Fmax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 the Artix-7, the fabric has fast carry chains — measure before you hand-build a lookahead adder.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Multiply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RV32M · shift-and-add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Multiplication is repeated shift-and-add. The classic algorithm walks the multiplier bit by bit; Booth's recoding cuts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INIT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Product = 0. Load multiplicand and multiplier into registers.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TEST BIT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the low multiplier bit is 1, add the multiplicand to the product.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SHIFT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Shift the multiplicand left (or product right) one position.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REPEAT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32 iterations for RV32. Booth recoding handles runs of 1s faster.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 the Artix-7 you can instead infer a DSP48 multiplier — one line of Verilog, one hardened block.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Divide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RV32M · restoring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Division is repeated subtract-and-shift. Restoring division subtracts, and puts the value back when it goes negative.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SHIFT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Shift the remainder left, bringing in the next dividend bit.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SUBTRACT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Subtract the divisor from the remainder.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negative, restore (add divisor back), quotient bit = 0; else bit = 1.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REPEAT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32 iterations. Handle divide-by-zero per the RV32M spec.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Multiply and divide are multi-cycle — the first place your core's CPI rises above 1. Note that for Week 7.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Code-Along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Drop In the Multiplier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For RV32M you can let the tools infer a DSP-based multiplier, then wrap a small FSM around a divider. Here's the multiply path.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5943600" cy="24643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63500" dist="25400" dir="5400000" algn="bl" rotWithShape="0">
              <a:srgbClr val="BFBFB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5943600" cy="310896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00710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muldiv.v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9514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295144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RV32M: mul (low 32 bits)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1002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510028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[63:0] prod =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724912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* $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93979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939796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mul_y = prod[31:0];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54680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95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369564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mulh: high 32 bits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5844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584448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mulh_y = prod[63:32];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7993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799332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div/rem: multi-cycle FSM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01421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014216"/>
            <a:ext cx="53583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asserts busy until done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892808"/>
            <a:ext cx="4855464" cy="2926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66560" y="1892808"/>
            <a:ext cx="4855464" cy="256032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94576" y="1892808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B8B8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VERIFY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12864" y="2221992"/>
            <a:ext cx="45628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xsim tb_muldiv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mul   6*7   = 42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mulh  hi bits ok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div   20/3  = 6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rem   20%3  = 2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report_utilization | grep DSP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DSPs: 4 / 90   &lt;-- inferred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program device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* operator infers a DSP48; divide needs an FSM and raises CPI. Both are real trade-offs to record.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Floating Point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IEEE 754 Overview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won't build an FPU this phase, but you must read numbers in IEEE 754. A float is three fields that encode sign, scale, and precision.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15258" cy="22860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3515258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Sign · 1 bit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129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0 = positive, 1 = negative. Simple.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8218" y="1892808"/>
            <a:ext cx="3515258" cy="22860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38218" y="1892808"/>
            <a:ext cx="3515258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39386" y="2112264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Exponent · 8 bits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39386" y="2788920"/>
            <a:ext cx="31129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Biased by 127. Sets the scale (the binary point's position).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09509" y="1892808"/>
            <a:ext cx="3515258" cy="22860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09509" y="1892808"/>
            <a:ext cx="3515258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10677" y="2112264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Fraction · 23 bits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10677" y="2788920"/>
            <a:ext cx="31129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mantissa, with an implicit leading 1. Sets precision.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value = (−1)ˢ × 1.fraction × 2^(exp − 127). Precision is finite — never test floats with ==.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0604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Milestone M2 · Lab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493008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584448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Extend the ALU; add mul / div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Lab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Grow the Math Engine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Extend the ALU and add RV32M multiply/divide, verifying each op. Same four sections, same rule: explain every result.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ANCHOR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the logic and shift ops to the ALU; pass the provided tests.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GUIDED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SLT/SLTU and overflow detection together; verify signed compares.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RV32M mul (DSP-inferred) and a multi-cycle div FSM.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STRETCH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Measure the Fmax and DSP-utilization cost of mul/div. (Optional.)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Together in class: Anchor + Guided. On your own: Extension + Stretch.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Reading Response #6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 3.1–3.6, 3.9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Short, specific, in your own words. Post to Canvas before next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DEFINE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How does two's complement turn subtraction into addition?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Name the three fields of an IEEE 754 single.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3770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Why is carry the bottleneck in a ripple adder?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Why do multiply and divide push CPI above 1?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1701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1157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Decode a given 32-bit float to its value.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Report the DSP/Fmax cost of your multiplier.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Show your bit-level work. 'The ALU multiplies' is not an answer about how.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6 Reflection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 Notebook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Log your ALU ops and the mul/div costs. Notebook + check-ins are 8% of your grade.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 your own words: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why does one adder suffice for both add and subtract?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487168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Measure: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what did mul/div cost you in DSPs, Fmax, and CPI?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118104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Prep the midterm: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list the Week 1–6 topics you're least sure of.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3749040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question: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restoring division or Booth — which still confuses you? Office hours.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 week  →  Midterm (Weeks 1–6), then Phase 3: why single-cycle is slow, and the 5-stage plan.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1591</Words>
  <Application>Microsoft Office PowerPoint</Application>
  <PresentationFormat>Widescreen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Courier New</vt:lpstr>
      <vt:lpstr>Tw Cen MT</vt:lpstr>
      <vt:lpstr>Tw Cen MT Condensed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PptxGenJS;broshar</dc:creator>
  <cp:lastModifiedBy>Natalie Broshar</cp:lastModifiedBy>
  <cp:revision>1</cp:revision>
  <dcterms:created xsi:type="dcterms:W3CDTF">2026-08-24T21:30:23Z</dcterms:created>
  <dcterms:modified xsi:type="dcterms:W3CDTF">2026-08-24T22:02:16Z</dcterms:modified>
</cp:coreProperties>
</file>