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BD1526-0F9D-4B6C-8AD3-639388F4F3B4}" v="1" dt="2026-08-24T22:01:46.5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lie Broshar" userId="c2ff11c0-5f1c-48ed-a930-17e04bb83249" providerId="ADAL" clId="{55F01509-CF37-41EF-8C5E-863A5FFDA0AA}"/>
    <pc:docChg chg="modSld">
      <pc:chgData name="Natalie Broshar" userId="c2ff11c0-5f1c-48ed-a930-17e04bb83249" providerId="ADAL" clId="{55F01509-CF37-41EF-8C5E-863A5FFDA0AA}" dt="2026-08-24T22:01:53.006" v="1" actId="20577"/>
      <pc:docMkLst>
        <pc:docMk/>
      </pc:docMkLst>
      <pc:sldChg chg="modSp mod">
        <pc:chgData name="Natalie Broshar" userId="c2ff11c0-5f1c-48ed-a930-17e04bb83249" providerId="ADAL" clId="{55F01509-CF37-41EF-8C5E-863A5FFDA0AA}" dt="2026-08-24T22:01:53.006" v="1" actId="20577"/>
        <pc:sldMkLst>
          <pc:docMk/>
          <pc:sldMk cId="0" sldId="256"/>
        </pc:sldMkLst>
        <pc:spChg chg="mod">
          <ac:chgData name="Natalie Broshar" userId="c2ff11c0-5f1c-48ed-a930-17e04bb83249" providerId="ADAL" clId="{55F01509-CF37-41EF-8C5E-863A5FFDA0AA}" dt="2026-08-24T22:01:53.006" v="1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7169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E1B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300" dirty="0">
                <a:solidFill>
                  <a:srgbClr val="E7B8C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CENG 4100 · COMPUTER ARCHITECTURE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14400" y="2331720"/>
            <a:ext cx="103628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Week 5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5592928" y="3611880"/>
            <a:ext cx="1005840" cy="27432"/>
          </a:xfrm>
          <a:prstGeom prst="rect">
            <a:avLst/>
          </a:prstGeom>
          <a:solidFill>
            <a:srgbClr val="E7B8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379476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3D9DF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…the RISC Way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45262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7B8C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Phase 1 — The ISA · Milestone M1 completes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557784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400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DUNWOODY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98932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300" dirty="0">
                <a:solidFill>
                  <a:srgbClr val="F3D9DF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COLLEGE OF TECHNOLOGY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This Week</a:t>
            </a: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Add It in Hardware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Now the real thing: no microcode interpreter, just wires. You'll add your instruction directly to the RISC core and then weigh it against the CISC version.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892808"/>
            <a:ext cx="3503066" cy="3246120"/>
          </a:xfrm>
          <a:prstGeom prst="rect">
            <a:avLst/>
          </a:prstGeom>
          <a:solidFill>
            <a:srgbClr val="F8E8EC"/>
          </a:solidFill>
          <a:ln/>
          <a:effectLst>
            <a:outerShdw blurRad="635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89280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" y="2112264"/>
            <a:ext cx="3100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Concept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8096" y="2788920"/>
            <a:ext cx="310073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The RISC-V ISA in depth: encoding, decode, immediate generation, ALU control, register conventions.</a:t>
            </a:r>
            <a:endParaRPr lang="en-US" sz="1450" dirty="0"/>
          </a:p>
          <a:p>
            <a:pPr marL="0" indent="0" algn="l">
              <a:lnSpc>
                <a:spcPct val="102000"/>
              </a:lnSpc>
              <a:buNone/>
            </a:pPr>
            <a:endParaRPr lang="en-US" sz="14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Read: COD 2.1–2.10, 2.16–2.18; SCO 4.3–4.5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44314" y="1892808"/>
            <a:ext cx="3503066" cy="3246120"/>
          </a:xfrm>
          <a:prstGeom prst="rect">
            <a:avLst/>
          </a:prstGeom>
          <a:solidFill>
            <a:srgbClr val="F8E8EC"/>
          </a:solidFill>
          <a:ln/>
          <a:effectLst>
            <a:outerShdw blurRad="635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44314" y="189280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45482" y="2112264"/>
            <a:ext cx="3100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Lab · M1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45482" y="2788920"/>
            <a:ext cx="310073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Add your instruction to the RISC core: extend decode, imm-gen, ALU control, and the datapath. Verify it in hardware.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121701" y="1892808"/>
            <a:ext cx="3503066" cy="3246120"/>
          </a:xfrm>
          <a:prstGeom prst="rect">
            <a:avLst/>
          </a:prstGeom>
          <a:solidFill>
            <a:srgbClr val="F8E8EC"/>
          </a:solidFill>
          <a:ln/>
          <a:effectLst>
            <a:outerShdw blurRad="635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121701" y="189280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22869" y="2112264"/>
            <a:ext cx="3100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Deliverable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322869" y="2788920"/>
            <a:ext cx="310073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Your instruction running on the core + a written RISC-vs-CISC comparison. Reading response #5.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Two builds, one instruction. This is where the trade-off becomes something you've felt with your hands.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Where We Are</a:t>
            </a: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Second Build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You added your instruction in microcode last week. Today you add the same instruction in hardware — and finish Milestone M1.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984248"/>
            <a:ext cx="2558720" cy="301752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98424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62824" y="227685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62824" y="22768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04088" y="297180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DONE · W4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502152"/>
            <a:ext cx="2229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Instruction working as Mic-1 microcode; cycle cost measured.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399968" y="1984248"/>
            <a:ext cx="2558720" cy="301752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99968" y="198424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95864" y="227685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95864" y="22768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37128" y="297180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TODAY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64560" y="3502152"/>
            <a:ext cx="2229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Add it as real hardware in the RISC core; verify on the board.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33008" y="1984248"/>
            <a:ext cx="2558720" cy="301752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33008" y="198424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228904" y="227685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28904" y="22768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70168" y="297180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COMPARE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97600" y="3502152"/>
            <a:ext cx="2229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Design effort, cycle count, and Fmax impact — CISC vs RISC.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066047" y="1984248"/>
            <a:ext cx="2558720" cy="301752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066047" y="198424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061943" y="227685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061943" y="22768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203207" y="297180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NEXT · P2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30639" y="3502152"/>
            <a:ext cx="2229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Beef up the ALU: full arithmetic and RV32M multiply/divide.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Finish M1 today: same instruction, two microarchitectures, one honest comparison.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RISC-V ISA</a:t>
            </a: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32 Registers, One Rule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RV32I is deliberately small and regular. Thirty-two 32-bit registers, a fixed 32-bit instruction, and a calling convention everyone agrees 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892808"/>
            <a:ext cx="2558720" cy="3200400"/>
          </a:xfrm>
          <a:prstGeom prst="rect">
            <a:avLst/>
          </a:prstGeom>
          <a:solidFill>
            <a:srgbClr val="F8E8EC"/>
          </a:solidFill>
          <a:ln/>
          <a:effectLst>
            <a:outerShdw blurRad="635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89280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" y="2112264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x0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8096" y="2788920"/>
            <a:ext cx="21563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Hard-wired to zero. Reads as 0, writes are discarded — the source of many clever idioms.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399968" y="1892808"/>
            <a:ext cx="2558720" cy="3200400"/>
          </a:xfrm>
          <a:prstGeom prst="rect">
            <a:avLst/>
          </a:prstGeom>
          <a:solidFill>
            <a:srgbClr val="F8E8EC"/>
          </a:solidFill>
          <a:ln/>
          <a:effectLst>
            <a:outerShdw blurRad="635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99968" y="189280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01136" y="2112264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ra, sp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01136" y="2788920"/>
            <a:ext cx="21563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x1 is the return address; x2 is the stack pointer. The ABI reserves them by convention.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33008" y="1892808"/>
            <a:ext cx="2558720" cy="3200400"/>
          </a:xfrm>
          <a:prstGeom prst="rect">
            <a:avLst/>
          </a:prstGeom>
          <a:solidFill>
            <a:srgbClr val="F8E8EC"/>
          </a:solidFill>
          <a:ln/>
          <a:effectLst>
            <a:outerShdw blurRad="635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33008" y="189280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34176" y="2112264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a0–a7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34176" y="2788920"/>
            <a:ext cx="21563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Argument and return registers (x10–x17). How functions pass values.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9066047" y="1892808"/>
            <a:ext cx="2558720" cy="3200400"/>
          </a:xfrm>
          <a:prstGeom prst="rect">
            <a:avLst/>
          </a:prstGeom>
          <a:solidFill>
            <a:srgbClr val="F8E8EC"/>
          </a:solidFill>
          <a:ln/>
          <a:effectLst>
            <a:outerShdw blurRad="635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066047" y="189280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267215" y="2112264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 / s regs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267215" y="2788920"/>
            <a:ext cx="21563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Temporaries (caller-saved) and saved registers (callee-saved). The compiler juggles these.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Regularity is the point: every instruction is 32 bits, and rd / rs1 / rs2 always sit in the same fields.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Encoding</a:t>
            </a: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Where the Fields Live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Because the fields are fixed, decode is just slicing bits. Here's an R-type and an I-type, side by side in Verilog.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892808"/>
            <a:ext cx="6126480" cy="24643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blurRad="63500" dist="25400" dir="5400000" algn="bl" rotWithShape="0">
              <a:srgbClr val="BFBFBF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892808"/>
            <a:ext cx="6126480" cy="310896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2007108"/>
            <a:ext cx="82296" cy="82296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189280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decode.v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2295144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42416" y="2295144"/>
            <a:ext cx="554126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</a:t>
            </a: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[6:0] opcode = instr[6:0];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2510028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42416" y="2510028"/>
            <a:ext cx="554126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</a:t>
            </a: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[4:0] rd     = instr[11:7];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2724912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42416" y="2724912"/>
            <a:ext cx="554126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</a:t>
            </a: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[2:0] funct3 = instr[14:12];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" y="2939796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42416" y="2939796"/>
            <a:ext cx="554126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</a:t>
            </a: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[4:0] rs1    = instr[19:15];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3154680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42416" y="3154680"/>
            <a:ext cx="554126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</a:t>
            </a: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[4:0] rs2    = instr[24:20];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" y="3369564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42416" y="3369564"/>
            <a:ext cx="554126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</a:t>
            </a: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[6:0] funct7 = instr[31:25];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" y="3584448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42416" y="3584448"/>
            <a:ext cx="554126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3F7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I-type immediate (sign-ext)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" y="3799332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42416" y="3799332"/>
            <a:ext cx="554126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</a:t>
            </a: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[31:0] immI =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4014216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42416" y="4014216"/>
            <a:ext cx="554126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{{20{instr[31]}}, instr[31:20]};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49440" y="1892808"/>
            <a:ext cx="4672584" cy="292608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949440" y="1892808"/>
            <a:ext cx="4672584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150608" y="2093976"/>
            <a:ext cx="4270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FIXED FIELDS PAY OFF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168896" y="2642616"/>
            <a:ext cx="4251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rs1, rs2, rd are ALWAYS in the same bits</a:t>
            </a:r>
            <a:endParaRPr lang="en-US" sz="145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So the register file can read before decode finishes</a:t>
            </a:r>
            <a:endParaRPr lang="en-US" sz="145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funct3 + funct7 select the exact ALU operation</a:t>
            </a:r>
            <a:endParaRPr lang="en-US" sz="145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opcode picks the format and the control signals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Fixed-field encoding is why RISC decode is cheap — no microcode ROM required.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Four Edits</a:t>
            </a: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Where You'll Cut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Adding an instruction to the hardware touches at most four places. Know them before you open the file.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938528"/>
            <a:ext cx="2558720" cy="320040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93852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62824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62824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04088" y="292608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DECODE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456432"/>
            <a:ext cx="2229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Add a case for your opcode/funct; assert its control signals.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399968" y="1938528"/>
            <a:ext cx="2558720" cy="320040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99968" y="193852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95864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95864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37128" y="292608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IMM-GEN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64560" y="3456432"/>
            <a:ext cx="2229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If it uses an immediate, extend the generator for its format.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33008" y="1938528"/>
            <a:ext cx="2558720" cy="320040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33008" y="193852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228904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28904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70168" y="292608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ALU CTRL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97600" y="3456432"/>
            <a:ext cx="2229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Map funct3/funct7 to a new ALU operation if needed.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066047" y="1938528"/>
            <a:ext cx="2558720" cy="320040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066047" y="193852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061943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061943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203207" y="292608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DATAPATH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30639" y="3456432"/>
            <a:ext cx="2229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Route any new operand or result path and its write-back.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Contrast last week: no control store, no dispatch — just four targeted RTL edits.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Immediates</a:t>
            </a: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Sign-Extend by Format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The immediate is scattered across the instruction differently in each format. Imm-gen reassembles and sign-extends it to 32 bits.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892808"/>
            <a:ext cx="6217920" cy="22494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blurRad="63500" dist="25400" dir="5400000" algn="bl" rotWithShape="0">
              <a:srgbClr val="BFBFBF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892808"/>
            <a:ext cx="6217920" cy="310896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2007108"/>
            <a:ext cx="82296" cy="82296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189280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immgen.v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2295144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42416" y="2295144"/>
            <a:ext cx="563270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</a:t>
            </a: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@(*) </a:t>
            </a:r>
            <a:r>
              <a:rPr lang="en-US" sz="11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(fmt)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2510028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42416" y="2510028"/>
            <a:ext cx="563270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I: imm = {{20{instr[31]}},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2724912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42416" y="2724912"/>
            <a:ext cx="563270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instr[31:20]};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" y="2939796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42416" y="2939796"/>
            <a:ext cx="563270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S: imm = {{20{instr[31]}},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3154680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42416" y="3154680"/>
            <a:ext cx="563270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instr[31:25],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" y="3369564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42416" y="3369564"/>
            <a:ext cx="563270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instr[11:7]};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" y="3584448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42416" y="3584448"/>
            <a:ext cx="563270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B: imm = {{19{instr[31]}}, ...};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" y="3799332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42416" y="3799332"/>
            <a:ext cx="563270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endcase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40880" y="1892808"/>
            <a:ext cx="4581144" cy="292608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040880" y="1892808"/>
            <a:ext cx="4581144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242048" y="2093976"/>
            <a:ext cx="4178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WHY IT'S FIDDLY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260336" y="2642616"/>
            <a:ext cx="4160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 and B split the immediate across two fields</a:t>
            </a:r>
            <a:endParaRPr lang="en-US" sz="145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B and J drop the low bit (targets are even)</a:t>
            </a:r>
            <a:endParaRPr lang="en-US" sz="145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The top bit is always the sign — replicate it</a:t>
            </a:r>
            <a:endParaRPr lang="en-US" sz="145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Get the bit ranges wrong → silent wrong branches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RISC-V scrambled the immediate on purpose — to keep rs1/rs2/rd bits fixed. Imm-gen pays that bill.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Code-Along</a:t>
            </a: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Add the Instruction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Teach the ALU-control block one new operation, then wire it into decode. This is the whole hardware edit for a reg-reg instruction.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892808"/>
            <a:ext cx="6126480" cy="24643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blurRad="63500" dist="25400" dir="5400000" algn="bl" rotWithShape="0">
              <a:srgbClr val="BFBFBF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892808"/>
            <a:ext cx="6126480" cy="310896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2007108"/>
            <a:ext cx="82296" cy="82296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189280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alu_ctrl.v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2295144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42416" y="2295144"/>
            <a:ext cx="554126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3F7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add a new R-type op: e.g. 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2510028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42416" y="2510028"/>
            <a:ext cx="554126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</a:t>
            </a: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@(*) </a:t>
            </a:r>
            <a:r>
              <a:rPr lang="en-US" sz="11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({funct7,funct3})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2724912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42416" y="2724912"/>
            <a:ext cx="554126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10'b0000000_000: alu_op = ADD;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" y="2939796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42416" y="2939796"/>
            <a:ext cx="554126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10'b0100000_000: alu_op = SUB;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3154680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42416" y="3154680"/>
            <a:ext cx="554126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10'b0000000_100: alu_op = XOR;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" y="3369564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42416" y="3369564"/>
            <a:ext cx="554126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i="1" dirty="0">
                <a:solidFill>
                  <a:srgbClr val="3F7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your new op below: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" y="3584448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42416" y="3584448"/>
            <a:ext cx="554126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10'b0000001_110: alu_op = MIN;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" y="3799332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42416" y="3799332"/>
            <a:ext cx="554126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        alu_op = ADD;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4014216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42416" y="4014216"/>
            <a:ext cx="554126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endcase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49440" y="1892808"/>
            <a:ext cx="4672584" cy="29260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949440" y="1892808"/>
            <a:ext cx="4672584" cy="256032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077456" y="1892808"/>
            <a:ext cx="4398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8B8B8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VERIFY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095744" y="2221992"/>
            <a:ext cx="437997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xsim tb_core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PASS: add  x3 = 7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PASS: sub  x4 = 1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PASS: min  x5 = 3   &lt;-- new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report_timing_summary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WNS: 1.05 ns  (still met)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program device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INFO: min runs on board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One case arm + one ALU op = a new instruction. No ROM, no dispatch — that's the RISC promise.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Trade-Off</a:t>
            </a: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What You Just Felt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You built the same instruction twice. Now put the two experiences side by side — this comparison is part of your deliverable.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938528"/>
            <a:ext cx="5346040" cy="306324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938528"/>
            <a:ext cx="534604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" y="2139696"/>
            <a:ext cx="494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CISC (MICROCODE)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2779776"/>
            <a:ext cx="492541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Edit software in the control store</a:t>
            </a:r>
            <a:endParaRPr lang="en-US" sz="1400" dirty="0"/>
          </a:p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No new wires or timing risk</a:t>
            </a:r>
            <a:endParaRPr lang="en-US" sz="1400" dirty="0"/>
          </a:p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Costs several datapath cycles</a:t>
            </a:r>
            <a:endParaRPr lang="en-US" sz="1400" dirty="0"/>
          </a:p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Adds latency, not area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78728" y="1938528"/>
            <a:ext cx="5346040" cy="306324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78728" y="1938528"/>
            <a:ext cx="534604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79896" y="2139696"/>
            <a:ext cx="494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RISC (HARDWARE)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98184" y="2779776"/>
            <a:ext cx="492541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Edit the RTL — real logic</a:t>
            </a:r>
            <a:endParaRPr lang="en-US" sz="1400" dirty="0"/>
          </a:p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May lengthen the critical path</a:t>
            </a:r>
            <a:endParaRPr lang="en-US" sz="1400" dirty="0"/>
          </a:p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Executes in one cycle</a:t>
            </a:r>
            <a:endParaRPr lang="en-US" sz="1400" dirty="0"/>
          </a:p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Adds area, not cycles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Neither wins outright. CISC trades cycles for simplicity; RISC trades area and timing for speed.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606040"/>
            <a:ext cx="1105783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Milestone M1 · Lab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566928" y="3493008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3584448"/>
            <a:ext cx="1105783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Add your instruction in hardware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Lab</a:t>
            </a: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Cut Into the Core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Add your assigned instruction to the RISC core and verify it on the board. Same four sections, same rule: explain every edit.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938528"/>
            <a:ext cx="2558720" cy="320040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93852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62824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62824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04088" y="292608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ANCHOR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456432"/>
            <a:ext cx="2229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Add a provided reg-reg op to ALU control; simulate it passing.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399968" y="1938528"/>
            <a:ext cx="2558720" cy="320040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99968" y="193852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95864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95864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37128" y="292608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GUIDED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64560" y="3456432"/>
            <a:ext cx="2229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Wire that op through decode and verify in the testbench together.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33008" y="1938528"/>
            <a:ext cx="2558720" cy="320040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33008" y="193852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228904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28904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70168" y="292608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EXTENSION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97600" y="3456432"/>
            <a:ext cx="2229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Implement your assigned instruction fully; program it to the board.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066047" y="1938528"/>
            <a:ext cx="2558720" cy="320040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066047" y="193852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061943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061943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203207" y="292608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STRETCH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30639" y="3456432"/>
            <a:ext cx="2229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Check Fmax impact; write the RISC-vs-CISC comparison. (Optional.)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Together in class: Anchor + Guided. On your own: Extension + Stretch.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Reading Response #5</a:t>
            </a: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COD 2.1–2.10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Short, specific, in your own words. Post to Canvas before next class.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938528"/>
            <a:ext cx="3503066" cy="301752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93852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" y="2139696"/>
            <a:ext cx="3100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DEFINE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2779776"/>
            <a:ext cx="308244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Which instruction bits hold rs1, rs2, and rd?</a:t>
            </a:r>
            <a:endParaRPr lang="en-US" sz="1400" dirty="0"/>
          </a:p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What does imm-gen do, and why is it format-dependent?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4314" y="1938528"/>
            <a:ext cx="3503066" cy="301752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44314" y="193852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45482" y="2139696"/>
            <a:ext cx="3100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EXPLAIN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63770" y="2779776"/>
            <a:ext cx="308244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Why does fixed-field encoding speed up decode?</a:t>
            </a:r>
            <a:endParaRPr lang="en-US" sz="1400" dirty="0"/>
          </a:p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How does ALU control use funct3 and funct7?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1701" y="1938528"/>
            <a:ext cx="3503066" cy="301752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121701" y="193852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22869" y="2139696"/>
            <a:ext cx="3100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APPLY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41157" y="2779776"/>
            <a:ext cx="308244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List the four RTL edits your instruction needed.</a:t>
            </a:r>
            <a:endParaRPr lang="en-US" sz="1400" dirty="0"/>
          </a:p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Compare its cycle cost to last week's microcode version.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Point to real bit ranges and signal names. This is a hardware answer, not a paraphrase.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Week 5 Reflection</a:t>
            </a: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Design Notebook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Log both builds and your verdict. Notebook + check-ins are 8% of your grade.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892808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25296" y="1856232"/>
            <a:ext cx="1022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In your own words:</a:t>
            </a:r>
            <a:r>
              <a:rPr lang="en-US" sz="15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why is RISC decode cheaper than CISC dispatch?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523744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" y="2523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25296" y="2487168"/>
            <a:ext cx="1022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Compare:</a:t>
            </a:r>
            <a:r>
              <a:rPr lang="en-US" sz="15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which build was harder, and which instruction ran faster?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315468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25296" y="3118104"/>
            <a:ext cx="1022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Measure:</a:t>
            </a:r>
            <a:r>
              <a:rPr lang="en-US" sz="15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did adding the instruction change your core's Fmax? By how much?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3785616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" y="3785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25296" y="3749040"/>
            <a:ext cx="1022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One question:</a:t>
            </a:r>
            <a:r>
              <a:rPr lang="en-US" sz="15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which of the four edits was trickiest? Bring it to office hours.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66928" y="598932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Next week  →  Arithmetic: extend the ALU and add an RV32M multiply/divide unit.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1488</Words>
  <Application>Microsoft Office PowerPoint</Application>
  <PresentationFormat>Widescreen</PresentationFormat>
  <Paragraphs>231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Courier New</vt:lpstr>
      <vt:lpstr>Tw Cen MT</vt:lpstr>
      <vt:lpstr>Tw Cen MT Condensed Extra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PptxGenJS;boshar</dc:creator>
  <cp:lastModifiedBy>Natalie Broshar</cp:lastModifiedBy>
  <cp:revision>1</cp:revision>
  <dcterms:created xsi:type="dcterms:W3CDTF">2026-08-24T21:30:23Z</dcterms:created>
  <dcterms:modified xsi:type="dcterms:W3CDTF">2026-08-24T22:01:55Z</dcterms:modified>
</cp:coreProperties>
</file>